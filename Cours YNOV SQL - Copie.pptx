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28"/>
  </p:notesMasterIdLst>
  <p:sldIdLst>
    <p:sldId id="256" r:id="rId3"/>
    <p:sldId id="259" r:id="rId4"/>
    <p:sldId id="275" r:id="rId5"/>
    <p:sldId id="306" r:id="rId6"/>
    <p:sldId id="313" r:id="rId7"/>
    <p:sldId id="307" r:id="rId8"/>
    <p:sldId id="308" r:id="rId9"/>
    <p:sldId id="309" r:id="rId10"/>
    <p:sldId id="310" r:id="rId11"/>
    <p:sldId id="311" r:id="rId12"/>
    <p:sldId id="357" r:id="rId13"/>
    <p:sldId id="358" r:id="rId14"/>
    <p:sldId id="359" r:id="rId15"/>
    <p:sldId id="363" r:id="rId16"/>
    <p:sldId id="360" r:id="rId17"/>
    <p:sldId id="361" r:id="rId18"/>
    <p:sldId id="362" r:id="rId19"/>
    <p:sldId id="364" r:id="rId20"/>
    <p:sldId id="312" r:id="rId21"/>
    <p:sldId id="365" r:id="rId22"/>
    <p:sldId id="368" r:id="rId23"/>
    <p:sldId id="369" r:id="rId24"/>
    <p:sldId id="370" r:id="rId25"/>
    <p:sldId id="371" r:id="rId26"/>
    <p:sldId id="372" r:id="rId27"/>
  </p:sldIdLst>
  <p:sldSz cx="9144000" cy="5143500" type="screen16x9"/>
  <p:notesSz cx="6858000" cy="9144000"/>
  <p:embeddedFontLst>
    <p:embeddedFont>
      <p:font typeface="Karla" pitchFamily="2" charset="0"/>
      <p:regular r:id="rId29"/>
      <p:bold r:id="rId30"/>
      <p:italic r:id="rId31"/>
      <p:boldItalic r:id="rId32"/>
    </p:embeddedFont>
    <p:embeddedFont>
      <p:font typeface="Lato Light" panose="020F0502020204030203" pitchFamily="34" charset="0"/>
      <p:regular r:id="rId33"/>
      <p:bold r:id="rId34"/>
      <p:italic r:id="rId35"/>
      <p:boldItalic r:id="rId36"/>
    </p:embeddedFont>
    <p:embeddedFont>
      <p:font typeface="Nixie One" panose="020B0604020202020204" charset="0"/>
      <p:regular r:id="rId37"/>
    </p:embeddedFont>
    <p:embeddedFont>
      <p:font typeface="Roboto Slab Light" panose="020B0604020202020204" charset="0"/>
      <p:regular r:id="rId38"/>
      <p:bold r:id="rId39"/>
    </p:embeddedFont>
    <p:embeddedFont>
      <p:font typeface="Varela Round" panose="00000500000000000000" pitchFamily="2" charset="-79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747"/>
    <a:srgbClr val="ACC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3C3DD0-CAD1-4107-8FEA-5C4A154266CE}">
  <a:tblStyle styleId="{6D3C3DD0-CAD1-4107-8FEA-5C4A154266C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507" autoAdjust="0"/>
  </p:normalViewPr>
  <p:slideViewPr>
    <p:cSldViewPr snapToGrid="0">
      <p:cViewPr>
        <p:scale>
          <a:sx n="122" d="100"/>
          <a:sy n="122" d="100"/>
        </p:scale>
        <p:origin x="338" y="-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5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Shape 5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00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287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9365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561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614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2797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4634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8963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023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52500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/>
          <p:nvPr/>
        </p:nvSpPr>
        <p:spPr>
          <a:xfrm>
            <a:off x="2630450" y="630150"/>
            <a:ext cx="3883200" cy="38832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430350" y="228600"/>
            <a:ext cx="1388100" cy="1388100"/>
          </a:xfrm>
          <a:prstGeom prst="ellipse">
            <a:avLst/>
          </a:prstGeom>
          <a:solidFill>
            <a:srgbClr val="F69F27">
              <a:alpha val="7960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908250" y="4660825"/>
            <a:ext cx="605400" cy="60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2706650" y="3872629"/>
            <a:ext cx="1097700" cy="1097700"/>
          </a:xfrm>
          <a:prstGeom prst="ellipse">
            <a:avLst/>
          </a:prstGeom>
          <a:solidFill>
            <a:srgbClr val="F69F27">
              <a:alpha val="7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2081694" y="771271"/>
            <a:ext cx="774600" cy="774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513651" y="1616690"/>
            <a:ext cx="413400" cy="413400"/>
          </a:xfrm>
          <a:prstGeom prst="ellipse">
            <a:avLst/>
          </a:prstGeom>
          <a:solidFill>
            <a:srgbClr val="FC4540">
              <a:alpha val="7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2420476" y="3612044"/>
            <a:ext cx="336900" cy="3369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2362484" y="1670133"/>
            <a:ext cx="213000" cy="2130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818461" y="1338692"/>
            <a:ext cx="93900" cy="939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163989" y="4374525"/>
            <a:ext cx="93900" cy="939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300611" y="990190"/>
            <a:ext cx="336767" cy="336767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2276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Shape 22"/>
          <p:cNvGrpSpPr/>
          <p:nvPr/>
        </p:nvGrpSpPr>
        <p:grpSpPr>
          <a:xfrm>
            <a:off x="3001075" y="4182123"/>
            <a:ext cx="508851" cy="478711"/>
            <a:chOff x="5972700" y="2330200"/>
            <a:chExt cx="411625" cy="387275"/>
          </a:xfrm>
        </p:grpSpPr>
        <p:sp>
          <p:nvSpPr>
            <p:cNvPr id="23" name="Shape 23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Shape 24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Shape 25"/>
          <p:cNvGrpSpPr/>
          <p:nvPr/>
        </p:nvGrpSpPr>
        <p:grpSpPr>
          <a:xfrm>
            <a:off x="5861768" y="506559"/>
            <a:ext cx="524975" cy="832145"/>
            <a:chOff x="6718575" y="2318625"/>
            <a:chExt cx="256950" cy="407375"/>
          </a:xfrm>
        </p:grpSpPr>
        <p:sp>
          <p:nvSpPr>
            <p:cNvPr id="26" name="Shape 2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Shape 27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Shape 28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Shape 29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Shape 30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Shape 31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Shape 3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Shape 33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xfrm>
            <a:off x="2757250" y="961350"/>
            <a:ext cx="3629400" cy="3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Slab Light"/>
              <a:buNone/>
              <a:defRPr sz="36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2757247" y="861970"/>
            <a:ext cx="300900" cy="3009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3509928" y="4757335"/>
            <a:ext cx="213000" cy="2130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5494851" y="4374527"/>
            <a:ext cx="413400" cy="4134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BLANK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0" y="0"/>
            <a:ext cx="9144000" cy="5157300"/>
          </a:xfrm>
          <a:prstGeom prst="frame">
            <a:avLst>
              <a:gd name="adj1" fmla="val 79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-117275" y="847257"/>
            <a:ext cx="605400" cy="6054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217850" y="171250"/>
            <a:ext cx="1054200" cy="1054200"/>
          </a:xfrm>
          <a:prstGeom prst="ellipse">
            <a:avLst/>
          </a:prstGeom>
          <a:solidFill>
            <a:srgbClr val="F69F27">
              <a:alpha val="7960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Shape 42"/>
          <p:cNvSpPr/>
          <p:nvPr/>
        </p:nvSpPr>
        <p:spPr>
          <a:xfrm>
            <a:off x="1156976" y="-137274"/>
            <a:ext cx="398700" cy="3987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Shape 43"/>
          <p:cNvSpPr/>
          <p:nvPr/>
        </p:nvSpPr>
        <p:spPr>
          <a:xfrm>
            <a:off x="1397225" y="337514"/>
            <a:ext cx="136800" cy="1368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488128" y="1334485"/>
            <a:ext cx="213000" cy="2130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Shape 45"/>
          <p:cNvSpPr/>
          <p:nvPr/>
        </p:nvSpPr>
        <p:spPr>
          <a:xfrm>
            <a:off x="7847950" y="4168079"/>
            <a:ext cx="1097700" cy="10977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8507494" y="2981146"/>
            <a:ext cx="774600" cy="7746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8094101" y="3973940"/>
            <a:ext cx="413400" cy="413400"/>
          </a:xfrm>
          <a:prstGeom prst="ellipse">
            <a:avLst/>
          </a:prstGeom>
          <a:solidFill>
            <a:srgbClr val="FC4540">
              <a:alpha val="7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8622049" y="3872635"/>
            <a:ext cx="213000" cy="2130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/>
          <p:nvPr/>
        </p:nvSpPr>
        <p:spPr>
          <a:xfrm>
            <a:off x="7550022" y="4801658"/>
            <a:ext cx="213000" cy="2130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Shape 50"/>
          <p:cNvSpPr/>
          <p:nvPr/>
        </p:nvSpPr>
        <p:spPr>
          <a:xfrm>
            <a:off x="7325661" y="4674667"/>
            <a:ext cx="93900" cy="939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258289" y="1577100"/>
            <a:ext cx="93900" cy="939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8726411" y="3200065"/>
            <a:ext cx="336767" cy="336767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Shape 53"/>
          <p:cNvGrpSpPr/>
          <p:nvPr/>
        </p:nvGrpSpPr>
        <p:grpSpPr>
          <a:xfrm>
            <a:off x="8142375" y="4477573"/>
            <a:ext cx="508851" cy="478711"/>
            <a:chOff x="5972700" y="2330200"/>
            <a:chExt cx="411625" cy="387275"/>
          </a:xfrm>
        </p:grpSpPr>
        <p:sp>
          <p:nvSpPr>
            <p:cNvPr id="54" name="Shape 5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Shape 55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Shape 56"/>
          <p:cNvGrpSpPr/>
          <p:nvPr/>
        </p:nvGrpSpPr>
        <p:grpSpPr>
          <a:xfrm>
            <a:off x="545621" y="382390"/>
            <a:ext cx="398658" cy="631920"/>
            <a:chOff x="6718575" y="2318625"/>
            <a:chExt cx="256950" cy="407375"/>
          </a:xfrm>
        </p:grpSpPr>
        <p:sp>
          <p:nvSpPr>
            <p:cNvPr id="57" name="Shape 57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Shape 58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Shape 59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Shape 60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Shape 61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Shape 6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Shape 63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Shape 64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407150" y="407075"/>
            <a:ext cx="8329800" cy="4329300"/>
          </a:xfrm>
          <a:prstGeom prst="rect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2630450" y="630150"/>
            <a:ext cx="3883200" cy="388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5430350" y="228600"/>
            <a:ext cx="1388100" cy="1388100"/>
          </a:xfrm>
          <a:prstGeom prst="ellipse">
            <a:avLst/>
          </a:prstGeom>
          <a:solidFill>
            <a:srgbClr val="FFB600">
              <a:alpha val="7960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Shape 98"/>
          <p:cNvSpPr/>
          <p:nvPr/>
        </p:nvSpPr>
        <p:spPr>
          <a:xfrm>
            <a:off x="5908250" y="4660825"/>
            <a:ext cx="605400" cy="6054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Shape 99"/>
          <p:cNvSpPr/>
          <p:nvPr/>
        </p:nvSpPr>
        <p:spPr>
          <a:xfrm>
            <a:off x="2706650" y="3872629"/>
            <a:ext cx="1097700" cy="1097700"/>
          </a:xfrm>
          <a:prstGeom prst="ellipse">
            <a:avLst/>
          </a:prstGeom>
          <a:solidFill>
            <a:srgbClr val="FC4540">
              <a:alpha val="7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2081694" y="771271"/>
            <a:ext cx="774600" cy="7746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Shape 101"/>
          <p:cNvSpPr/>
          <p:nvPr/>
        </p:nvSpPr>
        <p:spPr>
          <a:xfrm>
            <a:off x="6513651" y="1616690"/>
            <a:ext cx="413400" cy="4134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2420476" y="3612044"/>
            <a:ext cx="336900" cy="3369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2362484" y="1670133"/>
            <a:ext cx="213000" cy="21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6818461" y="1338692"/>
            <a:ext cx="93900" cy="9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6163989" y="4374525"/>
            <a:ext cx="93900" cy="939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300611" y="990190"/>
            <a:ext cx="336767" cy="336767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solidFill>
            <a:schemeClr val="lt1"/>
          </a:solidFill>
          <a:ln w="121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Shape 107"/>
          <p:cNvGrpSpPr/>
          <p:nvPr/>
        </p:nvGrpSpPr>
        <p:grpSpPr>
          <a:xfrm>
            <a:off x="3001075" y="4182123"/>
            <a:ext cx="508851" cy="478711"/>
            <a:chOff x="5972700" y="2330200"/>
            <a:chExt cx="411625" cy="387275"/>
          </a:xfrm>
        </p:grpSpPr>
        <p:sp>
          <p:nvSpPr>
            <p:cNvPr id="108" name="Shape 108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Shape 109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Shape 110"/>
          <p:cNvGrpSpPr/>
          <p:nvPr/>
        </p:nvGrpSpPr>
        <p:grpSpPr>
          <a:xfrm>
            <a:off x="5861768" y="506559"/>
            <a:ext cx="524975" cy="832145"/>
            <a:chOff x="6718575" y="2318625"/>
            <a:chExt cx="256950" cy="407375"/>
          </a:xfrm>
        </p:grpSpPr>
        <p:sp>
          <p:nvSpPr>
            <p:cNvPr id="111" name="Shape 111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Shape 11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Shape 113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Shape 114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Shape 115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Shape 11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Shape 117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Shape 118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Shape 119"/>
          <p:cNvSpPr/>
          <p:nvPr/>
        </p:nvSpPr>
        <p:spPr>
          <a:xfrm>
            <a:off x="2757247" y="861970"/>
            <a:ext cx="300900" cy="300900"/>
          </a:xfrm>
          <a:prstGeom prst="ellipse">
            <a:avLst/>
          </a:prstGeom>
          <a:solidFill>
            <a:srgbClr val="FC4540">
              <a:alpha val="7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3509928" y="4757335"/>
            <a:ext cx="213000" cy="2130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5494851" y="4374527"/>
            <a:ext cx="413400" cy="4134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Shape 122"/>
          <p:cNvSpPr txBox="1">
            <a:spLocks noGrp="1"/>
          </p:cNvSpPr>
          <p:nvPr>
            <p:ph type="ctrTitle"/>
          </p:nvPr>
        </p:nvSpPr>
        <p:spPr>
          <a:xfrm>
            <a:off x="2886100" y="1888150"/>
            <a:ext cx="3371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  <a:defRPr sz="3000" b="0" i="0" u="none" strike="noStrike" cap="none">
                <a:solidFill>
                  <a:srgbClr val="02BDC7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subTitle" idx="1"/>
          </p:nvPr>
        </p:nvSpPr>
        <p:spPr>
          <a:xfrm>
            <a:off x="2886100" y="2916252"/>
            <a:ext cx="33717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2000"/>
              <a:buFont typeface="Lato Light"/>
              <a:buNone/>
              <a:defRPr sz="2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ct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B600"/>
              </a:buClr>
              <a:buSzPts val="3000"/>
              <a:buFont typeface="Lato Light"/>
              <a:buNone/>
              <a:defRPr sz="3000" b="0" i="0" u="none" strike="noStrike" cap="none">
                <a:solidFill>
                  <a:srgbClr val="FFB6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/>
        </p:nvSpPr>
        <p:spPr>
          <a:xfrm>
            <a:off x="407150" y="407075"/>
            <a:ext cx="8329800" cy="4329300"/>
          </a:xfrm>
          <a:prstGeom prst="rect">
            <a:avLst/>
          </a:prstGeom>
          <a:solidFill>
            <a:srgbClr val="DEE9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-167025" y="559475"/>
            <a:ext cx="2630400" cy="2630400"/>
          </a:xfrm>
          <a:prstGeom prst="ellipse">
            <a:avLst/>
          </a:prstGeom>
          <a:solidFill>
            <a:srgbClr val="F69F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Shape 157"/>
          <p:cNvSpPr/>
          <p:nvPr/>
        </p:nvSpPr>
        <p:spPr>
          <a:xfrm>
            <a:off x="1812100" y="271400"/>
            <a:ext cx="1054200" cy="10542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Shape 158"/>
          <p:cNvSpPr/>
          <p:nvPr/>
        </p:nvSpPr>
        <p:spPr>
          <a:xfrm>
            <a:off x="1704597" y="-129655"/>
            <a:ext cx="300900" cy="3009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Shape 159"/>
          <p:cNvSpPr/>
          <p:nvPr/>
        </p:nvSpPr>
        <p:spPr>
          <a:xfrm>
            <a:off x="228600" y="2887250"/>
            <a:ext cx="605400" cy="6054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1522903" y="316285"/>
            <a:ext cx="213000" cy="2130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Shape 161"/>
          <p:cNvSpPr/>
          <p:nvPr/>
        </p:nvSpPr>
        <p:spPr>
          <a:xfrm>
            <a:off x="7847950" y="4168079"/>
            <a:ext cx="1097700" cy="1097700"/>
          </a:xfrm>
          <a:prstGeom prst="ellipse">
            <a:avLst/>
          </a:prstGeom>
          <a:solidFill>
            <a:srgbClr val="F69F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/>
          <p:nvPr/>
        </p:nvSpPr>
        <p:spPr>
          <a:xfrm>
            <a:off x="8507494" y="2981146"/>
            <a:ext cx="774600" cy="7746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Shape 163"/>
          <p:cNvSpPr/>
          <p:nvPr/>
        </p:nvSpPr>
        <p:spPr>
          <a:xfrm>
            <a:off x="8094101" y="3973940"/>
            <a:ext cx="413400" cy="4134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8622049" y="3872635"/>
            <a:ext cx="213000" cy="2130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Shape 165"/>
          <p:cNvSpPr/>
          <p:nvPr/>
        </p:nvSpPr>
        <p:spPr>
          <a:xfrm>
            <a:off x="7550022" y="4801658"/>
            <a:ext cx="213000" cy="2130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7325661" y="4674667"/>
            <a:ext cx="93900" cy="939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Shape 167"/>
          <p:cNvSpPr/>
          <p:nvPr/>
        </p:nvSpPr>
        <p:spPr>
          <a:xfrm>
            <a:off x="91939" y="2887250"/>
            <a:ext cx="93900" cy="939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Shape 168"/>
          <p:cNvSpPr/>
          <p:nvPr/>
        </p:nvSpPr>
        <p:spPr>
          <a:xfrm>
            <a:off x="8726411" y="3200065"/>
            <a:ext cx="336767" cy="336767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Shape 169"/>
          <p:cNvGrpSpPr/>
          <p:nvPr/>
        </p:nvGrpSpPr>
        <p:grpSpPr>
          <a:xfrm>
            <a:off x="8142372" y="4477571"/>
            <a:ext cx="508851" cy="478711"/>
            <a:chOff x="5972700" y="2330200"/>
            <a:chExt cx="411625" cy="387275"/>
          </a:xfrm>
        </p:grpSpPr>
        <p:sp>
          <p:nvSpPr>
            <p:cNvPr id="170" name="Shape 170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Shape 172"/>
          <p:cNvGrpSpPr/>
          <p:nvPr/>
        </p:nvGrpSpPr>
        <p:grpSpPr>
          <a:xfrm>
            <a:off x="2139869" y="482541"/>
            <a:ext cx="398658" cy="631920"/>
            <a:chOff x="6718575" y="2318625"/>
            <a:chExt cx="256950" cy="407375"/>
          </a:xfrm>
        </p:grpSpPr>
        <p:sp>
          <p:nvSpPr>
            <p:cNvPr id="173" name="Shape 17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Shape 174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Shape 175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Shape 17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Shape 177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Shape 178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Shape 179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Shape 180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144075" y="559475"/>
            <a:ext cx="21420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2830925" y="1200150"/>
            <a:ext cx="2516400" cy="31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○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83" name="Shape 183"/>
          <p:cNvSpPr txBox="1">
            <a:spLocks noGrp="1"/>
          </p:cNvSpPr>
          <p:nvPr>
            <p:ph type="body" idx="2"/>
          </p:nvPr>
        </p:nvSpPr>
        <p:spPr>
          <a:xfrm>
            <a:off x="5651044" y="1200150"/>
            <a:ext cx="2671500" cy="31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○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A6BCC9"/>
              </a:buClr>
              <a:buSzPts val="1800"/>
              <a:buFont typeface="Lato Light"/>
              <a:buChar char="◦"/>
              <a:defRPr sz="18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84" name="Shape 184"/>
          <p:cNvSpPr txBox="1">
            <a:spLocks noGrp="1"/>
          </p:cNvSpPr>
          <p:nvPr>
            <p:ph type="sldNum" idx="12"/>
          </p:nvPr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/>
        </p:nvSpPr>
        <p:spPr>
          <a:xfrm>
            <a:off x="407150" y="407075"/>
            <a:ext cx="8329800" cy="4329300"/>
          </a:xfrm>
          <a:prstGeom prst="rect">
            <a:avLst/>
          </a:prstGeom>
          <a:solidFill>
            <a:srgbClr val="F69F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3811800" y="-194800"/>
            <a:ext cx="1520400" cy="15204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Shape 188"/>
          <p:cNvSpPr/>
          <p:nvPr/>
        </p:nvSpPr>
        <p:spPr>
          <a:xfrm>
            <a:off x="4982150" y="734775"/>
            <a:ext cx="774600" cy="774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Shape 189"/>
          <p:cNvSpPr/>
          <p:nvPr/>
        </p:nvSpPr>
        <p:spPr>
          <a:xfrm>
            <a:off x="3469949" y="810973"/>
            <a:ext cx="213000" cy="2130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3109875" y="154418"/>
            <a:ext cx="508800" cy="5088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5395528" y="-85690"/>
            <a:ext cx="213000" cy="2130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-140400" y="3784204"/>
            <a:ext cx="1097700" cy="10977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Shape 193"/>
          <p:cNvSpPr/>
          <p:nvPr/>
        </p:nvSpPr>
        <p:spPr>
          <a:xfrm>
            <a:off x="8079301" y="4416226"/>
            <a:ext cx="879300" cy="8793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407150" y="4701449"/>
            <a:ext cx="336900" cy="3369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8896576" y="4123321"/>
            <a:ext cx="292800" cy="2928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Shape 196"/>
          <p:cNvSpPr/>
          <p:nvPr/>
        </p:nvSpPr>
        <p:spPr>
          <a:xfrm>
            <a:off x="7800547" y="4653308"/>
            <a:ext cx="213000" cy="2130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8471997" y="4203227"/>
            <a:ext cx="93900" cy="9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528659" y="3509275"/>
            <a:ext cx="213000" cy="21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Shape 199"/>
          <p:cNvSpPr/>
          <p:nvPr/>
        </p:nvSpPr>
        <p:spPr>
          <a:xfrm>
            <a:off x="8327788" y="4664713"/>
            <a:ext cx="382244" cy="382244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B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Shape 200"/>
          <p:cNvGrpSpPr/>
          <p:nvPr/>
        </p:nvGrpSpPr>
        <p:grpSpPr>
          <a:xfrm>
            <a:off x="154023" y="4093696"/>
            <a:ext cx="508851" cy="478711"/>
            <a:chOff x="5972700" y="2330200"/>
            <a:chExt cx="411625" cy="387275"/>
          </a:xfrm>
        </p:grpSpPr>
        <p:sp>
          <p:nvSpPr>
            <p:cNvPr id="201" name="Shape 201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Shape 202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Shape 203"/>
          <p:cNvGrpSpPr/>
          <p:nvPr/>
        </p:nvGrpSpPr>
        <p:grpSpPr>
          <a:xfrm>
            <a:off x="5222963" y="889724"/>
            <a:ext cx="292923" cy="464285"/>
            <a:chOff x="6718575" y="2318625"/>
            <a:chExt cx="256950" cy="407375"/>
          </a:xfrm>
        </p:grpSpPr>
        <p:sp>
          <p:nvSpPr>
            <p:cNvPr id="204" name="Shape 20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Shape 20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Shape 20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Shape 20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Shape 209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Shape 210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Shape 211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02BD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1242275" y="1704600"/>
            <a:ext cx="66597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191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○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4191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419100" algn="ct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4A5C65"/>
              </a:buClr>
              <a:buSzPts val="3000"/>
              <a:buFont typeface="Lato Light"/>
              <a:buChar char="◦"/>
              <a:defRPr sz="3000" b="0" i="1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213" name="Shape 213"/>
          <p:cNvSpPr txBox="1"/>
          <p:nvPr/>
        </p:nvSpPr>
        <p:spPr>
          <a:xfrm>
            <a:off x="3593400" y="8930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" sz="9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9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Shape 214"/>
          <p:cNvSpPr txBox="1">
            <a:spLocks noGrp="1"/>
          </p:cNvSpPr>
          <p:nvPr>
            <p:ph type="sldNum" idx="12"/>
          </p:nvPr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/>
          <p:nvPr/>
        </p:nvSpPr>
        <p:spPr>
          <a:xfrm>
            <a:off x="407150" y="407075"/>
            <a:ext cx="8329800" cy="4329300"/>
          </a:xfrm>
          <a:prstGeom prst="rect">
            <a:avLst/>
          </a:prstGeom>
          <a:solidFill>
            <a:srgbClr val="DEE9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Shape 277"/>
          <p:cNvSpPr/>
          <p:nvPr/>
        </p:nvSpPr>
        <p:spPr>
          <a:xfrm>
            <a:off x="-167025" y="559475"/>
            <a:ext cx="2630400" cy="2630400"/>
          </a:xfrm>
          <a:prstGeom prst="ellipse">
            <a:avLst/>
          </a:prstGeom>
          <a:solidFill>
            <a:srgbClr val="F69F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Shape 278"/>
          <p:cNvSpPr/>
          <p:nvPr/>
        </p:nvSpPr>
        <p:spPr>
          <a:xfrm>
            <a:off x="1812100" y="271400"/>
            <a:ext cx="1054200" cy="10542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Shape 279"/>
          <p:cNvSpPr/>
          <p:nvPr/>
        </p:nvSpPr>
        <p:spPr>
          <a:xfrm>
            <a:off x="1704597" y="-129655"/>
            <a:ext cx="300900" cy="3009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Shape 280"/>
          <p:cNvSpPr/>
          <p:nvPr/>
        </p:nvSpPr>
        <p:spPr>
          <a:xfrm>
            <a:off x="228600" y="2887250"/>
            <a:ext cx="605400" cy="6054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Shape 281"/>
          <p:cNvSpPr/>
          <p:nvPr/>
        </p:nvSpPr>
        <p:spPr>
          <a:xfrm>
            <a:off x="1522903" y="316285"/>
            <a:ext cx="213000" cy="2130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Shape 282"/>
          <p:cNvSpPr/>
          <p:nvPr/>
        </p:nvSpPr>
        <p:spPr>
          <a:xfrm>
            <a:off x="7847950" y="4168079"/>
            <a:ext cx="1097700" cy="1097700"/>
          </a:xfrm>
          <a:prstGeom prst="ellipse">
            <a:avLst/>
          </a:prstGeom>
          <a:solidFill>
            <a:srgbClr val="F69F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8507494" y="2981146"/>
            <a:ext cx="774600" cy="7746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Shape 284"/>
          <p:cNvSpPr/>
          <p:nvPr/>
        </p:nvSpPr>
        <p:spPr>
          <a:xfrm>
            <a:off x="8094101" y="3973940"/>
            <a:ext cx="413400" cy="4134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Shape 285"/>
          <p:cNvSpPr/>
          <p:nvPr/>
        </p:nvSpPr>
        <p:spPr>
          <a:xfrm>
            <a:off x="8622049" y="3872635"/>
            <a:ext cx="213000" cy="2130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7550022" y="4801658"/>
            <a:ext cx="213000" cy="2130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Shape 287"/>
          <p:cNvSpPr/>
          <p:nvPr/>
        </p:nvSpPr>
        <p:spPr>
          <a:xfrm>
            <a:off x="7325661" y="4674667"/>
            <a:ext cx="93900" cy="939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Shape 288"/>
          <p:cNvSpPr/>
          <p:nvPr/>
        </p:nvSpPr>
        <p:spPr>
          <a:xfrm>
            <a:off x="91939" y="2887250"/>
            <a:ext cx="93900" cy="939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Shape 289"/>
          <p:cNvSpPr/>
          <p:nvPr/>
        </p:nvSpPr>
        <p:spPr>
          <a:xfrm>
            <a:off x="8726411" y="3200065"/>
            <a:ext cx="336767" cy="336767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Shape 290"/>
          <p:cNvGrpSpPr/>
          <p:nvPr/>
        </p:nvGrpSpPr>
        <p:grpSpPr>
          <a:xfrm>
            <a:off x="8142372" y="4477571"/>
            <a:ext cx="508851" cy="478711"/>
            <a:chOff x="5972700" y="2330200"/>
            <a:chExt cx="411625" cy="387275"/>
          </a:xfrm>
        </p:grpSpPr>
        <p:sp>
          <p:nvSpPr>
            <p:cNvPr id="291" name="Shape 291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Shape 292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Shape 293"/>
          <p:cNvGrpSpPr/>
          <p:nvPr/>
        </p:nvGrpSpPr>
        <p:grpSpPr>
          <a:xfrm>
            <a:off x="2139869" y="482541"/>
            <a:ext cx="398658" cy="631920"/>
            <a:chOff x="6718575" y="2318625"/>
            <a:chExt cx="256950" cy="407375"/>
          </a:xfrm>
        </p:grpSpPr>
        <p:sp>
          <p:nvSpPr>
            <p:cNvPr id="294" name="Shape 294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Shape 29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Shape 29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Shape 29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Shape 29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Shape 299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Shape 300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Shape 301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Shape 302"/>
          <p:cNvSpPr txBox="1">
            <a:spLocks noGrp="1"/>
          </p:cNvSpPr>
          <p:nvPr>
            <p:ph type="title"/>
          </p:nvPr>
        </p:nvSpPr>
        <p:spPr>
          <a:xfrm>
            <a:off x="144075" y="559475"/>
            <a:ext cx="21420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  <p:sp>
        <p:nvSpPr>
          <p:cNvPr id="303" name="Shape 303"/>
          <p:cNvSpPr txBox="1">
            <a:spLocks noGrp="1"/>
          </p:cNvSpPr>
          <p:nvPr>
            <p:ph type="sldNum" idx="12"/>
          </p:nvPr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/>
          <p:nvPr/>
        </p:nvSpPr>
        <p:spPr>
          <a:xfrm>
            <a:off x="407150" y="407075"/>
            <a:ext cx="8329800" cy="4329300"/>
          </a:xfrm>
          <a:prstGeom prst="rect">
            <a:avLst/>
          </a:prstGeom>
          <a:solidFill>
            <a:srgbClr val="DEE9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Shape 334"/>
          <p:cNvSpPr/>
          <p:nvPr/>
        </p:nvSpPr>
        <p:spPr>
          <a:xfrm>
            <a:off x="794200" y="78224"/>
            <a:ext cx="141600" cy="1416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Shape 335"/>
          <p:cNvSpPr/>
          <p:nvPr/>
        </p:nvSpPr>
        <p:spPr>
          <a:xfrm>
            <a:off x="-140400" y="150205"/>
            <a:ext cx="1097700" cy="1097700"/>
          </a:xfrm>
          <a:prstGeom prst="ellipse">
            <a:avLst/>
          </a:prstGeom>
          <a:solidFill>
            <a:srgbClr val="2276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Shape 336"/>
          <p:cNvSpPr/>
          <p:nvPr/>
        </p:nvSpPr>
        <p:spPr>
          <a:xfrm>
            <a:off x="8079301" y="377626"/>
            <a:ext cx="879300" cy="879300"/>
          </a:xfrm>
          <a:prstGeom prst="ellipse">
            <a:avLst/>
          </a:prstGeom>
          <a:solidFill>
            <a:srgbClr val="FC40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Shape 337"/>
          <p:cNvSpPr/>
          <p:nvPr/>
        </p:nvSpPr>
        <p:spPr>
          <a:xfrm>
            <a:off x="696550" y="917625"/>
            <a:ext cx="336900" cy="336900"/>
          </a:xfrm>
          <a:prstGeom prst="ellipse">
            <a:avLst/>
          </a:prstGeom>
          <a:solidFill>
            <a:srgbClr val="FC4540">
              <a:alpha val="78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Shape 338"/>
          <p:cNvSpPr/>
          <p:nvPr/>
        </p:nvSpPr>
        <p:spPr>
          <a:xfrm>
            <a:off x="8924303" y="119381"/>
            <a:ext cx="292800" cy="292800"/>
          </a:xfrm>
          <a:prstGeom prst="ellipse">
            <a:avLst/>
          </a:prstGeom>
          <a:solidFill>
            <a:srgbClr val="FF9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Shape 339"/>
          <p:cNvSpPr/>
          <p:nvPr/>
        </p:nvSpPr>
        <p:spPr>
          <a:xfrm>
            <a:off x="7724347" y="767108"/>
            <a:ext cx="213000" cy="213000"/>
          </a:xfrm>
          <a:prstGeom prst="ellipse">
            <a:avLst/>
          </a:prstGeom>
          <a:solidFill>
            <a:srgbClr val="02B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Shape 340"/>
          <p:cNvSpPr/>
          <p:nvPr/>
        </p:nvSpPr>
        <p:spPr>
          <a:xfrm>
            <a:off x="8923937" y="451941"/>
            <a:ext cx="93900" cy="939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Shape 341"/>
          <p:cNvSpPr/>
          <p:nvPr/>
        </p:nvSpPr>
        <p:spPr>
          <a:xfrm>
            <a:off x="528659" y="-124724"/>
            <a:ext cx="213000" cy="213000"/>
          </a:xfrm>
          <a:prstGeom prst="ellipse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Shape 342"/>
          <p:cNvSpPr/>
          <p:nvPr/>
        </p:nvSpPr>
        <p:spPr>
          <a:xfrm>
            <a:off x="8327788" y="626113"/>
            <a:ext cx="382244" cy="382244"/>
          </a:xfrm>
          <a:custGeom>
            <a:avLst/>
            <a:gdLst/>
            <a:ahLst/>
            <a:cxnLst/>
            <a:rect l="0" t="0" r="0" b="0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Shape 343"/>
          <p:cNvGrpSpPr/>
          <p:nvPr/>
        </p:nvGrpSpPr>
        <p:grpSpPr>
          <a:xfrm>
            <a:off x="154023" y="438902"/>
            <a:ext cx="508851" cy="478711"/>
            <a:chOff x="5972700" y="2330200"/>
            <a:chExt cx="411625" cy="387275"/>
          </a:xfrm>
        </p:grpSpPr>
        <p:sp>
          <p:nvSpPr>
            <p:cNvPr id="344" name="Shape 34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Shape 345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457200" y="41777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6BCC9"/>
              </a:buClr>
              <a:buSzPts val="1400"/>
              <a:buFont typeface="Lato Light"/>
              <a:buNone/>
              <a:defRPr sz="14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347" name="Shape 347"/>
          <p:cNvSpPr/>
          <p:nvPr/>
        </p:nvSpPr>
        <p:spPr>
          <a:xfrm>
            <a:off x="7720375" y="103875"/>
            <a:ext cx="626400" cy="626400"/>
          </a:xfrm>
          <a:prstGeom prst="ellipse">
            <a:avLst/>
          </a:prstGeom>
          <a:solidFill>
            <a:srgbClr val="F69F27">
              <a:alpha val="796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Shape 348"/>
          <p:cNvGrpSpPr/>
          <p:nvPr/>
        </p:nvGrpSpPr>
        <p:grpSpPr>
          <a:xfrm>
            <a:off x="7915426" y="229146"/>
            <a:ext cx="236882" cy="375437"/>
            <a:chOff x="6718575" y="2318625"/>
            <a:chExt cx="256950" cy="407375"/>
          </a:xfrm>
        </p:grpSpPr>
        <p:sp>
          <p:nvSpPr>
            <p:cNvPr id="349" name="Shape 349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Shape 350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0" t="0" r="0" b="0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Shape 351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0" t="0" r="0" b="0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Shape 35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Shape 353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0" t="0" r="0" b="0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Shape 354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0" t="0" r="0" b="0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Shape 355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0" t="0" r="0" b="0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Shape 35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0" t="0" r="0" b="0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Shape 357"/>
          <p:cNvSpPr txBox="1">
            <a:spLocks noGrp="1"/>
          </p:cNvSpPr>
          <p:nvPr>
            <p:ph type="sldNum" idx="12"/>
          </p:nvPr>
        </p:nvSpPr>
        <p:spPr>
          <a:xfrm>
            <a:off x="8117984" y="43036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/>
          <p:nvPr/>
        </p:nvSpPr>
        <p:spPr>
          <a:xfrm>
            <a:off x="7209425" y="502200"/>
            <a:ext cx="206100" cy="206100"/>
          </a:xfrm>
          <a:prstGeom prst="ellipse">
            <a:avLst/>
          </a:prstGeom>
          <a:solidFill>
            <a:srgbClr val="00D1C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Shape 391"/>
          <p:cNvSpPr/>
          <p:nvPr/>
        </p:nvSpPr>
        <p:spPr>
          <a:xfrm>
            <a:off x="1197475" y="-802775"/>
            <a:ext cx="6749100" cy="6749100"/>
          </a:xfrm>
          <a:prstGeom prst="ellipse">
            <a:avLst/>
          </a:prstGeom>
          <a:noFill/>
          <a:ln w="9525" cap="flat" cmpd="sng">
            <a:solidFill>
              <a:srgbClr val="A1BEC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Shape 392"/>
          <p:cNvSpPr txBox="1">
            <a:spLocks noGrp="1"/>
          </p:cNvSpPr>
          <p:nvPr>
            <p:ph type="ctrTitle"/>
          </p:nvPr>
        </p:nvSpPr>
        <p:spPr>
          <a:xfrm>
            <a:off x="2255425" y="1991825"/>
            <a:ext cx="46332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  <a:defRPr sz="4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6000"/>
              <a:buFont typeface="Nixie One"/>
              <a:buNone/>
              <a:defRPr sz="60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93" name="Shape 393"/>
          <p:cNvSpPr/>
          <p:nvPr/>
        </p:nvSpPr>
        <p:spPr>
          <a:xfrm>
            <a:off x="267550" y="-886750"/>
            <a:ext cx="2347200" cy="2347200"/>
          </a:xfrm>
          <a:prstGeom prst="donut">
            <a:avLst>
              <a:gd name="adj" fmla="val 29778"/>
            </a:avLst>
          </a:prstGeom>
          <a:solidFill>
            <a:srgbClr val="1876BC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Shape 394"/>
          <p:cNvSpPr/>
          <p:nvPr/>
        </p:nvSpPr>
        <p:spPr>
          <a:xfrm>
            <a:off x="8348875" y="2882375"/>
            <a:ext cx="978600" cy="978600"/>
          </a:xfrm>
          <a:prstGeom prst="ellipse">
            <a:avLst/>
          </a:prstGeom>
          <a:solidFill>
            <a:srgbClr val="ED4A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Shape 395"/>
          <p:cNvSpPr/>
          <p:nvPr/>
        </p:nvSpPr>
        <p:spPr>
          <a:xfrm>
            <a:off x="2255425" y="541800"/>
            <a:ext cx="657600" cy="657600"/>
          </a:xfrm>
          <a:prstGeom prst="ellipse">
            <a:avLst/>
          </a:prstGeom>
          <a:solidFill>
            <a:srgbClr val="00ACC3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Shape 396"/>
          <p:cNvSpPr/>
          <p:nvPr/>
        </p:nvSpPr>
        <p:spPr>
          <a:xfrm>
            <a:off x="6752750" y="3465100"/>
            <a:ext cx="2284200" cy="2284200"/>
          </a:xfrm>
          <a:prstGeom prst="donut">
            <a:avLst>
              <a:gd name="adj" fmla="val 11909"/>
            </a:avLst>
          </a:prstGeom>
          <a:solidFill>
            <a:srgbClr val="F69F2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Shape 397"/>
          <p:cNvSpPr/>
          <p:nvPr/>
        </p:nvSpPr>
        <p:spPr>
          <a:xfrm>
            <a:off x="137775" y="3193200"/>
            <a:ext cx="657600" cy="657600"/>
          </a:xfrm>
          <a:prstGeom prst="ellipse">
            <a:avLst/>
          </a:prstGeom>
          <a:solidFill>
            <a:srgbClr val="BBCD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Shape 398"/>
          <p:cNvSpPr/>
          <p:nvPr/>
        </p:nvSpPr>
        <p:spPr>
          <a:xfrm>
            <a:off x="376550" y="4217275"/>
            <a:ext cx="1207800" cy="1207800"/>
          </a:xfrm>
          <a:prstGeom prst="donut">
            <a:avLst>
              <a:gd name="adj" fmla="val 42915"/>
            </a:avLst>
          </a:prstGeom>
          <a:solidFill>
            <a:srgbClr val="65BB48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Shape 399"/>
          <p:cNvSpPr/>
          <p:nvPr/>
        </p:nvSpPr>
        <p:spPr>
          <a:xfrm>
            <a:off x="8244625" y="2541950"/>
            <a:ext cx="304800" cy="304800"/>
          </a:xfrm>
          <a:prstGeom prst="ellipse">
            <a:avLst/>
          </a:prstGeom>
          <a:solidFill>
            <a:srgbClr val="E8004C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Shape 400"/>
          <p:cNvSpPr/>
          <p:nvPr/>
        </p:nvSpPr>
        <p:spPr>
          <a:xfrm>
            <a:off x="7598775" y="-300250"/>
            <a:ext cx="1370700" cy="1370700"/>
          </a:xfrm>
          <a:prstGeom prst="ellipse">
            <a:avLst/>
          </a:prstGeom>
          <a:solidFill>
            <a:srgbClr val="BBCD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Shape 401"/>
          <p:cNvSpPr/>
          <p:nvPr/>
        </p:nvSpPr>
        <p:spPr>
          <a:xfrm>
            <a:off x="8244625" y="802850"/>
            <a:ext cx="657600" cy="657600"/>
          </a:xfrm>
          <a:prstGeom prst="ellipse">
            <a:avLst/>
          </a:prstGeom>
          <a:solidFill>
            <a:srgbClr val="65BB48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Shape 402"/>
          <p:cNvSpPr/>
          <p:nvPr/>
        </p:nvSpPr>
        <p:spPr>
          <a:xfrm>
            <a:off x="213975" y="695900"/>
            <a:ext cx="871500" cy="871500"/>
          </a:xfrm>
          <a:prstGeom prst="ellipse">
            <a:avLst/>
          </a:prstGeom>
          <a:noFill/>
          <a:ln w="9525" cap="flat" cmpd="sng">
            <a:solidFill>
              <a:srgbClr val="00ACC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Shape 403"/>
          <p:cNvSpPr/>
          <p:nvPr/>
        </p:nvSpPr>
        <p:spPr>
          <a:xfrm>
            <a:off x="-122175" y="2933250"/>
            <a:ext cx="1177500" cy="1177500"/>
          </a:xfrm>
          <a:prstGeom prst="ellipse">
            <a:avLst/>
          </a:prstGeom>
          <a:noFill/>
          <a:ln w="9525" cap="flat" cmpd="sng">
            <a:solidFill>
              <a:srgbClr val="BBCD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Shape 404"/>
          <p:cNvSpPr/>
          <p:nvPr/>
        </p:nvSpPr>
        <p:spPr>
          <a:xfrm>
            <a:off x="8150075" y="708300"/>
            <a:ext cx="846600" cy="846600"/>
          </a:xfrm>
          <a:prstGeom prst="ellipse">
            <a:avLst/>
          </a:prstGeom>
          <a:noFill/>
          <a:ln w="9525" cap="flat" cmpd="sng">
            <a:solidFill>
              <a:srgbClr val="65BB4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Shape 405"/>
          <p:cNvSpPr/>
          <p:nvPr/>
        </p:nvSpPr>
        <p:spPr>
          <a:xfrm>
            <a:off x="1055325" y="3904575"/>
            <a:ext cx="206100" cy="206100"/>
          </a:xfrm>
          <a:prstGeom prst="ellipse">
            <a:avLst/>
          </a:prstGeom>
          <a:solidFill>
            <a:srgbClr val="F8BB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 txBox="1">
            <a:spLocks noGrp="1"/>
          </p:cNvSpPr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408" name="Shape 408"/>
          <p:cNvSpPr txBox="1">
            <a:spLocks noGrp="1"/>
          </p:cNvSpPr>
          <p:nvPr>
            <p:ph type="body" idx="1"/>
          </p:nvPr>
        </p:nvSpPr>
        <p:spPr>
          <a:xfrm>
            <a:off x="2935875" y="1550150"/>
            <a:ext cx="2560500" cy="3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◎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◉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￮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●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○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■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●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○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■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409" name="Shape 409"/>
          <p:cNvSpPr txBox="1">
            <a:spLocks noGrp="1"/>
          </p:cNvSpPr>
          <p:nvPr>
            <p:ph type="body" idx="2"/>
          </p:nvPr>
        </p:nvSpPr>
        <p:spPr>
          <a:xfrm>
            <a:off x="5650849" y="1550150"/>
            <a:ext cx="2560500" cy="3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◎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◉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￮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●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○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■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●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○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■"/>
              <a:defRPr sz="18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410" name="Shape 410"/>
          <p:cNvSpPr/>
          <p:nvPr/>
        </p:nvSpPr>
        <p:spPr>
          <a:xfrm>
            <a:off x="-358950" y="2194400"/>
            <a:ext cx="2347200" cy="2347200"/>
          </a:xfrm>
          <a:prstGeom prst="donut">
            <a:avLst>
              <a:gd name="adj" fmla="val 36789"/>
            </a:avLst>
          </a:prstGeom>
          <a:solidFill>
            <a:srgbClr val="1876BC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Shape 411"/>
          <p:cNvSpPr/>
          <p:nvPr/>
        </p:nvSpPr>
        <p:spPr>
          <a:xfrm>
            <a:off x="198450" y="-321125"/>
            <a:ext cx="978600" cy="978600"/>
          </a:xfrm>
          <a:prstGeom prst="ellipse">
            <a:avLst/>
          </a:prstGeom>
          <a:noFill/>
          <a:ln w="9525" cap="flat" cmpd="sng">
            <a:solidFill>
              <a:srgbClr val="E8004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Shape 412"/>
          <p:cNvSpPr/>
          <p:nvPr/>
        </p:nvSpPr>
        <p:spPr>
          <a:xfrm>
            <a:off x="198450" y="420475"/>
            <a:ext cx="657600" cy="657600"/>
          </a:xfrm>
          <a:prstGeom prst="ellipse">
            <a:avLst/>
          </a:prstGeom>
          <a:solidFill>
            <a:srgbClr val="ED4A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1177051" y="657475"/>
            <a:ext cx="846900" cy="846900"/>
          </a:xfrm>
          <a:prstGeom prst="donut">
            <a:avLst>
              <a:gd name="adj" fmla="val 22275"/>
            </a:avLst>
          </a:prstGeom>
          <a:solidFill>
            <a:srgbClr val="00ACC3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Shape 414"/>
          <p:cNvSpPr/>
          <p:nvPr/>
        </p:nvSpPr>
        <p:spPr>
          <a:xfrm>
            <a:off x="887650" y="4142300"/>
            <a:ext cx="1207800" cy="1207800"/>
          </a:xfrm>
          <a:prstGeom prst="ellipse">
            <a:avLst/>
          </a:prstGeom>
          <a:solidFill>
            <a:srgbClr val="F69F2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Shape 415"/>
          <p:cNvSpPr/>
          <p:nvPr/>
        </p:nvSpPr>
        <p:spPr>
          <a:xfrm>
            <a:off x="153675" y="4799600"/>
            <a:ext cx="550500" cy="550500"/>
          </a:xfrm>
          <a:prstGeom prst="donut">
            <a:avLst>
              <a:gd name="adj" fmla="val 18606"/>
            </a:avLst>
          </a:prstGeom>
          <a:solidFill>
            <a:srgbClr val="F8BB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Shape 416"/>
          <p:cNvSpPr/>
          <p:nvPr/>
        </p:nvSpPr>
        <p:spPr>
          <a:xfrm>
            <a:off x="1172525" y="1696950"/>
            <a:ext cx="304800" cy="304800"/>
          </a:xfrm>
          <a:prstGeom prst="ellipse">
            <a:avLst/>
          </a:prstGeom>
          <a:solidFill>
            <a:srgbClr val="00D1C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Shape 417"/>
          <p:cNvSpPr/>
          <p:nvPr/>
        </p:nvSpPr>
        <p:spPr>
          <a:xfrm>
            <a:off x="7844250" y="619275"/>
            <a:ext cx="550500" cy="550500"/>
          </a:xfrm>
          <a:prstGeom prst="ellipse">
            <a:avLst/>
          </a:prstGeom>
          <a:solidFill>
            <a:srgbClr val="00D1C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Shape 418"/>
          <p:cNvSpPr/>
          <p:nvPr/>
        </p:nvSpPr>
        <p:spPr>
          <a:xfrm>
            <a:off x="7515500" y="-72500"/>
            <a:ext cx="397500" cy="397500"/>
          </a:xfrm>
          <a:prstGeom prst="donut">
            <a:avLst>
              <a:gd name="adj" fmla="val 30568"/>
            </a:avLst>
          </a:prstGeom>
          <a:solidFill>
            <a:srgbClr val="65BB48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hape 419"/>
          <p:cNvSpPr/>
          <p:nvPr/>
        </p:nvSpPr>
        <p:spPr>
          <a:xfrm>
            <a:off x="8651500" y="1030850"/>
            <a:ext cx="304800" cy="304800"/>
          </a:xfrm>
          <a:prstGeom prst="ellipse">
            <a:avLst/>
          </a:prstGeom>
          <a:solidFill>
            <a:srgbClr val="F8BB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Shape 420"/>
          <p:cNvSpPr/>
          <p:nvPr/>
        </p:nvSpPr>
        <p:spPr>
          <a:xfrm>
            <a:off x="8097900" y="167450"/>
            <a:ext cx="741600" cy="741600"/>
          </a:xfrm>
          <a:prstGeom prst="donut">
            <a:avLst>
              <a:gd name="adj" fmla="val 8064"/>
            </a:avLst>
          </a:prstGeom>
          <a:solidFill>
            <a:srgbClr val="00ACC3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Shape 421"/>
          <p:cNvSpPr/>
          <p:nvPr/>
        </p:nvSpPr>
        <p:spPr>
          <a:xfrm>
            <a:off x="8394750" y="1504375"/>
            <a:ext cx="188100" cy="188100"/>
          </a:xfrm>
          <a:prstGeom prst="ellipse">
            <a:avLst/>
          </a:prstGeom>
          <a:solidFill>
            <a:srgbClr val="BBCD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Shape 422"/>
          <p:cNvSpPr/>
          <p:nvPr/>
        </p:nvSpPr>
        <p:spPr>
          <a:xfrm>
            <a:off x="-205625" y="2347725"/>
            <a:ext cx="2040600" cy="2040600"/>
          </a:xfrm>
          <a:prstGeom prst="ellipse">
            <a:avLst/>
          </a:prstGeom>
          <a:noFill/>
          <a:ln w="9525" cap="flat" cmpd="sng">
            <a:solidFill>
              <a:srgbClr val="65BB4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Shape 423"/>
          <p:cNvSpPr/>
          <p:nvPr/>
        </p:nvSpPr>
        <p:spPr>
          <a:xfrm>
            <a:off x="305125" y="-214450"/>
            <a:ext cx="765300" cy="765300"/>
          </a:xfrm>
          <a:prstGeom prst="ellipse">
            <a:avLst/>
          </a:prstGeom>
          <a:solidFill>
            <a:srgbClr val="F69F2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Shape 424"/>
          <p:cNvSpPr/>
          <p:nvPr/>
        </p:nvSpPr>
        <p:spPr>
          <a:xfrm>
            <a:off x="8532600" y="911950"/>
            <a:ext cx="542700" cy="542700"/>
          </a:xfrm>
          <a:prstGeom prst="ellipse">
            <a:avLst/>
          </a:prstGeom>
          <a:noFill/>
          <a:ln w="9525" cap="flat" cmpd="sng">
            <a:solidFill>
              <a:srgbClr val="F8BB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/>
          <p:nvPr/>
        </p:nvSpPr>
        <p:spPr>
          <a:xfrm>
            <a:off x="1197475" y="-802775"/>
            <a:ext cx="6749100" cy="6749100"/>
          </a:xfrm>
          <a:prstGeom prst="ellipse">
            <a:avLst/>
          </a:prstGeom>
          <a:noFill/>
          <a:ln w="9525" cap="flat" cmpd="sng">
            <a:solidFill>
              <a:srgbClr val="A1BEC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xfrm>
            <a:off x="1246225" y="4177700"/>
            <a:ext cx="6651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1BECC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◉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￮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●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○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■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●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○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■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497" name="Shape 497"/>
          <p:cNvSpPr/>
          <p:nvPr/>
        </p:nvSpPr>
        <p:spPr>
          <a:xfrm rot="10800000">
            <a:off x="8705950" y="3777263"/>
            <a:ext cx="617400" cy="617400"/>
          </a:xfrm>
          <a:prstGeom prst="ellipse">
            <a:avLst/>
          </a:prstGeom>
          <a:solidFill>
            <a:srgbClr val="1876BC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Shape 498"/>
          <p:cNvSpPr/>
          <p:nvPr/>
        </p:nvSpPr>
        <p:spPr>
          <a:xfrm rot="10800000">
            <a:off x="608750" y="841361"/>
            <a:ext cx="515400" cy="515400"/>
          </a:xfrm>
          <a:prstGeom prst="donut">
            <a:avLst>
              <a:gd name="adj" fmla="val 18608"/>
            </a:avLst>
          </a:prstGeom>
          <a:solidFill>
            <a:srgbClr val="F8BB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Shape 499"/>
          <p:cNvSpPr/>
          <p:nvPr/>
        </p:nvSpPr>
        <p:spPr>
          <a:xfrm rot="10800000">
            <a:off x="8195021" y="4553300"/>
            <a:ext cx="831600" cy="831600"/>
          </a:xfrm>
          <a:prstGeom prst="donut">
            <a:avLst>
              <a:gd name="adj" fmla="val 37879"/>
            </a:avLst>
          </a:prstGeom>
          <a:solidFill>
            <a:srgbClr val="1876BC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Shape 500"/>
          <p:cNvSpPr/>
          <p:nvPr/>
        </p:nvSpPr>
        <p:spPr>
          <a:xfrm rot="10800000">
            <a:off x="8458384" y="4183763"/>
            <a:ext cx="210900" cy="210900"/>
          </a:xfrm>
          <a:prstGeom prst="ellipse">
            <a:avLst/>
          </a:prstGeom>
          <a:solidFill>
            <a:srgbClr val="BBCD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Shape 501"/>
          <p:cNvSpPr/>
          <p:nvPr/>
        </p:nvSpPr>
        <p:spPr>
          <a:xfrm rot="10800000">
            <a:off x="-153147" y="-444547"/>
            <a:ext cx="1128300" cy="1128300"/>
          </a:xfrm>
          <a:prstGeom prst="ellipse">
            <a:avLst/>
          </a:prstGeom>
          <a:noFill/>
          <a:ln w="9525" cap="flat" cmpd="sng">
            <a:solidFill>
              <a:srgbClr val="ED4A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Shape 502"/>
          <p:cNvSpPr/>
          <p:nvPr/>
        </p:nvSpPr>
        <p:spPr>
          <a:xfrm rot="10800000">
            <a:off x="8012016" y="133391"/>
            <a:ext cx="434700" cy="434700"/>
          </a:xfrm>
          <a:prstGeom prst="donut">
            <a:avLst>
              <a:gd name="adj" fmla="val 8754"/>
            </a:avLst>
          </a:prstGeom>
          <a:solidFill>
            <a:srgbClr val="65BB48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Shape 503"/>
          <p:cNvSpPr/>
          <p:nvPr/>
        </p:nvSpPr>
        <p:spPr>
          <a:xfrm rot="10800000">
            <a:off x="-73577" y="841500"/>
            <a:ext cx="330900" cy="330900"/>
          </a:xfrm>
          <a:prstGeom prst="ellipse">
            <a:avLst/>
          </a:prstGeom>
          <a:solidFill>
            <a:srgbClr val="ED4A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Shape 504"/>
          <p:cNvSpPr/>
          <p:nvPr/>
        </p:nvSpPr>
        <p:spPr>
          <a:xfrm rot="10800000">
            <a:off x="8512150" y="133404"/>
            <a:ext cx="811200" cy="811200"/>
          </a:xfrm>
          <a:prstGeom prst="donut">
            <a:avLst>
              <a:gd name="adj" fmla="val 39163"/>
            </a:avLst>
          </a:prstGeom>
          <a:solidFill>
            <a:srgbClr val="BBCD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Shape 505"/>
          <p:cNvSpPr/>
          <p:nvPr/>
        </p:nvSpPr>
        <p:spPr>
          <a:xfrm rot="10800000">
            <a:off x="117998" y="-173402"/>
            <a:ext cx="586200" cy="586200"/>
          </a:xfrm>
          <a:prstGeom prst="ellipse">
            <a:avLst/>
          </a:prstGeom>
          <a:solidFill>
            <a:srgbClr val="F69F2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Shape 506"/>
          <p:cNvSpPr/>
          <p:nvPr/>
        </p:nvSpPr>
        <p:spPr>
          <a:xfrm rot="10800000">
            <a:off x="748825" y="4695050"/>
            <a:ext cx="345000" cy="345000"/>
          </a:xfrm>
          <a:prstGeom prst="donut">
            <a:avLst>
              <a:gd name="adj" fmla="val 30568"/>
            </a:avLst>
          </a:prstGeom>
          <a:solidFill>
            <a:srgbClr val="65BB48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Shape 507"/>
          <p:cNvSpPr/>
          <p:nvPr/>
        </p:nvSpPr>
        <p:spPr>
          <a:xfrm rot="10800000">
            <a:off x="-107786" y="4259033"/>
            <a:ext cx="663000" cy="663000"/>
          </a:xfrm>
          <a:prstGeom prst="ellipse">
            <a:avLst/>
          </a:prstGeom>
          <a:solidFill>
            <a:srgbClr val="F69F26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Shape 508"/>
          <p:cNvSpPr/>
          <p:nvPr/>
        </p:nvSpPr>
        <p:spPr>
          <a:xfrm rot="10800000">
            <a:off x="-316662" y="3443534"/>
            <a:ext cx="506100" cy="506100"/>
          </a:xfrm>
          <a:prstGeom prst="ellipse">
            <a:avLst/>
          </a:prstGeom>
          <a:solidFill>
            <a:srgbClr val="BBCD00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Shape 509"/>
          <p:cNvSpPr/>
          <p:nvPr/>
        </p:nvSpPr>
        <p:spPr>
          <a:xfrm rot="10800000">
            <a:off x="-226170" y="4140650"/>
            <a:ext cx="899400" cy="899400"/>
          </a:xfrm>
          <a:prstGeom prst="ellipse">
            <a:avLst/>
          </a:prstGeom>
          <a:noFill/>
          <a:ln w="9525" cap="flat" cmpd="sng">
            <a:solidFill>
              <a:srgbClr val="F8BB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Shape 510"/>
          <p:cNvSpPr/>
          <p:nvPr/>
        </p:nvSpPr>
        <p:spPr>
          <a:xfrm rot="10800000">
            <a:off x="8700641" y="1100250"/>
            <a:ext cx="333300" cy="333300"/>
          </a:xfrm>
          <a:prstGeom prst="ellipse">
            <a:avLst/>
          </a:prstGeom>
          <a:solidFill>
            <a:srgbClr val="1876BC">
              <a:alpha val="8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2901875" y="1033400"/>
            <a:ext cx="5292300" cy="3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○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A6BCC9"/>
              </a:buClr>
              <a:buSzPts val="2000"/>
              <a:buFont typeface="Lato Light"/>
              <a:buChar char="◦"/>
              <a:defRPr sz="2000" b="0" i="0" u="none" strike="noStrike" cap="none">
                <a:solidFill>
                  <a:srgbClr val="4A5C65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144075" y="559475"/>
            <a:ext cx="2142000" cy="26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Slab Light"/>
              <a:buNone/>
              <a:defRPr sz="2000" b="0" i="0" u="none" strike="noStrike" cap="non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7" r:id="rId6"/>
    <p:sldLayoutId id="2147483659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sz="1800" b="0" i="0" u="none" strike="noStrike" cap="non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88" name="Shape 388"/>
          <p:cNvSpPr txBox="1">
            <a:spLocks noGrp="1"/>
          </p:cNvSpPr>
          <p:nvPr>
            <p:ph type="body" idx="1"/>
          </p:nvPr>
        </p:nvSpPr>
        <p:spPr>
          <a:xfrm>
            <a:off x="2935875" y="1525758"/>
            <a:ext cx="52755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◎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◉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￮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●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○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■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●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○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■"/>
              <a:defRPr sz="2400" b="0" i="0" u="none" strike="noStrike" cap="non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23">
            <a:extLst>
              <a:ext uri="{FF2B5EF4-FFF2-40B4-BE49-F238E27FC236}">
                <a16:creationId xmlns:a16="http://schemas.microsoft.com/office/drawing/2014/main" id="{1C9562E7-A607-4AD3-91C2-78FF5FB48FCF}"/>
              </a:ext>
            </a:extLst>
          </p:cNvPr>
          <p:cNvSpPr txBox="1"/>
          <p:nvPr/>
        </p:nvSpPr>
        <p:spPr>
          <a:xfrm>
            <a:off x="2800416" y="1754512"/>
            <a:ext cx="3543168" cy="192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2800" b="0" i="0" u="none" strike="noStrike" cap="none" dirty="0">
                <a:solidFill>
                  <a:schemeClr val="bg1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Analyse et Exploration des données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2800" dirty="0">
                <a:solidFill>
                  <a:schemeClr val="bg1"/>
                </a:solidFill>
                <a:latin typeface="Roboto Slab Light"/>
                <a:ea typeface="Roboto Slab Light"/>
                <a:cs typeface="Karla"/>
                <a:sym typeface="Roboto Slab Light"/>
              </a:rPr>
              <a:t>-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2000" b="0" i="0" u="none" strike="noStrike" cap="none" dirty="0">
                <a:solidFill>
                  <a:schemeClr val="bg1"/>
                </a:solidFill>
                <a:latin typeface="Roboto Slab Light"/>
                <a:ea typeface="Roboto Slab Light"/>
                <a:cs typeface="Karla"/>
                <a:sym typeface="Roboto Slab Light"/>
              </a:rPr>
              <a:t>Florent PRADEL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2000" dirty="0">
              <a:solidFill>
                <a:schemeClr val="bg1"/>
              </a:solidFill>
              <a:latin typeface="Roboto Slab Light"/>
              <a:ea typeface="Roboto Slab Light"/>
              <a:cs typeface="Karla"/>
              <a:sym typeface="Roboto Slab Ligh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85EE4E-04BC-461C-8081-AEDAB9F32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38" y="3428465"/>
            <a:ext cx="1560660" cy="1560660"/>
          </a:xfrm>
          <a:prstGeom prst="rect">
            <a:avLst/>
          </a:prstGeom>
        </p:spPr>
      </p:pic>
      <p:pic>
        <p:nvPicPr>
          <p:cNvPr id="1030" name="Picture 6" descr="RÃ©sultat de recherche d'images pour &quot;ceicom solution&quot;">
            <a:extLst>
              <a:ext uri="{FF2B5EF4-FFF2-40B4-BE49-F238E27FC236}">
                <a16:creationId xmlns:a16="http://schemas.microsoft.com/office/drawing/2014/main" id="{3C3E0ECF-BBD4-475C-988A-A0F7A3C3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716" y="3682550"/>
            <a:ext cx="2361534" cy="95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>
            <a:spLocks noGrp="1"/>
          </p:cNvSpPr>
          <p:nvPr>
            <p:ph type="ctrTitle"/>
          </p:nvPr>
        </p:nvSpPr>
        <p:spPr>
          <a:xfrm>
            <a:off x="2886150" y="2249653"/>
            <a:ext cx="3371700" cy="64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</a:pPr>
            <a:r>
              <a:rPr lang="fr-FR" sz="3200" dirty="0"/>
              <a:t>Les bases</a:t>
            </a:r>
            <a:endParaRPr lang="fr-FR" sz="5400" dirty="0"/>
          </a:p>
        </p:txBody>
      </p:sp>
      <p:sp>
        <p:nvSpPr>
          <p:cNvPr id="3" name="Shape 522">
            <a:extLst>
              <a:ext uri="{FF2B5EF4-FFF2-40B4-BE49-F238E27FC236}">
                <a16:creationId xmlns:a16="http://schemas.microsoft.com/office/drawing/2014/main" id="{CC6267DE-C841-48AB-85BB-E3273C17E32C}"/>
              </a:ext>
            </a:extLst>
          </p:cNvPr>
          <p:cNvSpPr txBox="1">
            <a:spLocks/>
          </p:cNvSpPr>
          <p:nvPr/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pPr algn="r">
                <a:buSzPts val="1200"/>
              </a:pPr>
              <a:t>2</a:t>
            </a:fld>
            <a:endParaRPr lang="en"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Shape 671"/>
          <p:cNvSpPr txBox="1">
            <a:spLocks noGrp="1"/>
          </p:cNvSpPr>
          <p:nvPr>
            <p:ph type="title"/>
          </p:nvPr>
        </p:nvSpPr>
        <p:spPr>
          <a:xfrm>
            <a:off x="1558242" y="277240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Un petit rappel (j’espère) SQL</a:t>
            </a:r>
          </a:p>
        </p:txBody>
      </p:sp>
      <p:sp>
        <p:nvSpPr>
          <p:cNvPr id="672" name="Shape 672"/>
          <p:cNvSpPr txBox="1">
            <a:spLocks noGrp="1"/>
          </p:cNvSpPr>
          <p:nvPr>
            <p:ph type="body" idx="1"/>
          </p:nvPr>
        </p:nvSpPr>
        <p:spPr>
          <a:xfrm>
            <a:off x="2593018" y="1084340"/>
            <a:ext cx="5909662" cy="106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◎"/>
            </a:pPr>
            <a:r>
              <a:rPr lang="fr-FR" sz="1600" b="0" i="0" u="none" strike="noStrike" cap="none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SQL = </a:t>
            </a:r>
            <a:r>
              <a:rPr lang="fr-FR" sz="1600" b="0" i="0" u="none" strike="noStrike" cap="none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Structured</a:t>
            </a:r>
            <a:r>
              <a:rPr lang="fr-FR" sz="1600" b="0" i="0" u="none" strike="noStrike" cap="none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fr-FR" sz="1600" b="0" i="0" u="none" strike="noStrike" cap="none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Query</a:t>
            </a:r>
            <a:r>
              <a:rPr lang="fr-FR" sz="1600" b="0" i="0" u="none" strike="noStrike" cap="none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Langage</a:t>
            </a:r>
          </a:p>
          <a:p>
            <a:pPr marL="1143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None/>
            </a:pPr>
            <a:endParaRPr lang="fr-FR" sz="900" dirty="0"/>
          </a:p>
          <a:p>
            <a: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Char char="◎"/>
            </a:pPr>
            <a:r>
              <a:rPr lang="fr-FR" sz="1600" b="0" i="0" u="none" strike="noStrike" cap="none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Langage de gestion de base de données</a:t>
            </a:r>
          </a:p>
          <a:p>
            <a:pPr marL="1143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None/>
            </a:pPr>
            <a:endParaRPr sz="900" dirty="0"/>
          </a:p>
          <a:p>
            <a: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1800"/>
              <a:buFont typeface="Varela Round"/>
              <a:buNone/>
            </a:pPr>
            <a:endParaRPr sz="1800" b="0" i="0" u="none" strike="noStrike" cap="none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" name="Shape 522">
            <a:extLst>
              <a:ext uri="{FF2B5EF4-FFF2-40B4-BE49-F238E27FC236}">
                <a16:creationId xmlns:a16="http://schemas.microsoft.com/office/drawing/2014/main" id="{04AE6350-B5D9-424F-8FC3-5141FBE08204}"/>
              </a:ext>
            </a:extLst>
          </p:cNvPr>
          <p:cNvSpPr txBox="1">
            <a:spLocks/>
          </p:cNvSpPr>
          <p:nvPr/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rPr>
              <a:pPr algn="r">
                <a:buSzPts val="1200"/>
              </a:pPr>
              <a:t>3</a:t>
            </a:fld>
            <a:endParaRPr lang="en" sz="1200" dirty="0">
              <a:solidFill>
                <a:srgbClr val="A6BCC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026" name="Picture 2" descr="DML DCL DDL TCL SQL">
            <a:extLst>
              <a:ext uri="{FF2B5EF4-FFF2-40B4-BE49-F238E27FC236}">
                <a16:creationId xmlns:a16="http://schemas.microsoft.com/office/drawing/2014/main" id="{A1D99048-6635-4AE8-952E-2A0BF2D6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139" y="2221853"/>
            <a:ext cx="4768149" cy="252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71">
            <a:extLst>
              <a:ext uri="{FF2B5EF4-FFF2-40B4-BE49-F238E27FC236}">
                <a16:creationId xmlns:a16="http://schemas.microsoft.com/office/drawing/2014/main" id="{A4BB76A6-FCF5-4540-9C7E-14AF8A5EE250}"/>
              </a:ext>
            </a:extLst>
          </p:cNvPr>
          <p:cNvSpPr txBox="1">
            <a:spLocks/>
          </p:cNvSpPr>
          <p:nvPr/>
        </p:nvSpPr>
        <p:spPr>
          <a:xfrm>
            <a:off x="1558242" y="277240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Les requêtes de sélection </a:t>
            </a:r>
          </a:p>
        </p:txBody>
      </p:sp>
      <p:sp>
        <p:nvSpPr>
          <p:cNvPr id="11" name="Shape 672">
            <a:extLst>
              <a:ext uri="{FF2B5EF4-FFF2-40B4-BE49-F238E27FC236}">
                <a16:creationId xmlns:a16="http://schemas.microsoft.com/office/drawing/2014/main" id="{16C84EEC-8CE2-435B-9CAF-6973A030AE27}"/>
              </a:ext>
            </a:extLst>
          </p:cNvPr>
          <p:cNvSpPr txBox="1">
            <a:spLocks/>
          </p:cNvSpPr>
          <p:nvPr/>
        </p:nvSpPr>
        <p:spPr>
          <a:xfrm>
            <a:off x="1785980" y="1068924"/>
            <a:ext cx="5909662" cy="385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La sélection (SELECT) :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  <a:sym typeface="Nixie One"/>
              </a:rPr>
              <a:t>SELECT</a:t>
            </a:r>
            <a:r>
              <a:rPr lang="fr-FR" i="1" dirty="0">
                <a:solidFill>
                  <a:srgbClr val="617A86"/>
                </a:solidFill>
                <a:latin typeface="Varela Round"/>
                <a:cs typeface="Varela Round"/>
              </a:rPr>
              <a:t> [nom du champ] </a:t>
            </a: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FROM</a:t>
            </a:r>
            <a:r>
              <a:rPr lang="fr-FR" i="1" dirty="0">
                <a:solidFill>
                  <a:srgbClr val="617A86"/>
                </a:solidFill>
                <a:latin typeface="Varela Round"/>
                <a:cs typeface="Varela Round"/>
              </a:rPr>
              <a:t> [nom de la table] </a:t>
            </a: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Les jointures (JOIN):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SELECT [nom du champ] FROM [nom de la table 1]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JOIN</a:t>
            </a:r>
            <a:r>
              <a:rPr lang="fr-FR" sz="1200" dirty="0">
                <a:solidFill>
                  <a:srgbClr val="617A86"/>
                </a:solidFill>
                <a:latin typeface="Varela Round"/>
                <a:cs typeface="Varela Round"/>
              </a:rPr>
              <a:t> </a:t>
            </a: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[nom de la table 2]  </a:t>
            </a: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ON</a:t>
            </a: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 [nom du champ 1]  </a:t>
            </a: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=</a:t>
            </a: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 [nom du champ 2] 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Les conditions (WHERE):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SELECT [nom du champ] FROM [nom de la table 1]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JOIN [nom de la table 2]  ON [nom du champ 1]  = [nom du champ 2]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WHERE</a:t>
            </a: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 [nom du champ 1]  </a:t>
            </a:r>
            <a:r>
              <a:rPr lang="fr-FR" dirty="0">
                <a:solidFill>
                  <a:srgbClr val="02BDC7"/>
                </a:solidFill>
                <a:latin typeface="Varela Round" panose="020B0604020202020204" charset="-79"/>
                <a:ea typeface="Roboto Slab Light"/>
                <a:cs typeface="Varela Round" panose="020B0604020202020204" charset="-79"/>
              </a:rPr>
              <a:t>=</a:t>
            </a:r>
            <a:r>
              <a:rPr lang="fr-FR" sz="1200" i="1" dirty="0">
                <a:solidFill>
                  <a:srgbClr val="617A86"/>
                </a:solidFill>
                <a:latin typeface="Varela Round"/>
                <a:cs typeface="Varela Round"/>
              </a:rPr>
              <a:t>  « toto »;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457200" indent="-228600">
              <a:spcBef>
                <a:spcPts val="600"/>
              </a:spcBef>
              <a:buClr>
                <a:srgbClr val="A1BECC"/>
              </a:buClr>
              <a:buSzPts val="1800"/>
              <a:buFont typeface="Varela Round"/>
              <a:buNone/>
            </a:pPr>
            <a:endParaRPr lang="fr-FR" sz="18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225349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Shape 671"/>
          <p:cNvSpPr txBox="1">
            <a:spLocks noGrp="1"/>
          </p:cNvSpPr>
          <p:nvPr>
            <p:ph type="title"/>
          </p:nvPr>
        </p:nvSpPr>
        <p:spPr>
          <a:xfrm>
            <a:off x="1770893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DML (DATA MANIPULATION LANGAGE)</a:t>
            </a:r>
          </a:p>
        </p:txBody>
      </p:sp>
      <p:sp>
        <p:nvSpPr>
          <p:cNvPr id="7" name="Shape 522">
            <a:extLst>
              <a:ext uri="{FF2B5EF4-FFF2-40B4-BE49-F238E27FC236}">
                <a16:creationId xmlns:a16="http://schemas.microsoft.com/office/drawing/2014/main" id="{04AE6350-B5D9-424F-8FC3-5141FBE08204}"/>
              </a:ext>
            </a:extLst>
          </p:cNvPr>
          <p:cNvSpPr txBox="1">
            <a:spLocks/>
          </p:cNvSpPr>
          <p:nvPr/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rPr>
              <a:pPr algn="r">
                <a:buSzPts val="1200"/>
              </a:pPr>
              <a:t>5</a:t>
            </a:fld>
            <a:endParaRPr lang="en" sz="1200" dirty="0">
              <a:solidFill>
                <a:srgbClr val="A6BCC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Shape 672">
            <a:extLst>
              <a:ext uri="{FF2B5EF4-FFF2-40B4-BE49-F238E27FC236}">
                <a16:creationId xmlns:a16="http://schemas.microsoft.com/office/drawing/2014/main" id="{71002564-3984-45FF-8580-6203B3D57C60}"/>
              </a:ext>
            </a:extLst>
          </p:cNvPr>
          <p:cNvSpPr txBox="1">
            <a:spLocks/>
          </p:cNvSpPr>
          <p:nvPr/>
        </p:nvSpPr>
        <p:spPr>
          <a:xfrm>
            <a:off x="2244735" y="694372"/>
            <a:ext cx="7189887" cy="452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SELECT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	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SELECT * FROM TABLE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	</a:t>
            </a:r>
            <a:r>
              <a:rPr lang="en-US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 WHERE condition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0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INSERT</a:t>
            </a:r>
          </a:p>
          <a:p>
            <a:pPr marL="114300" lvl="5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	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INSERT INTO table VALUES ('valeur 1', 'valeur 2', ...)</a:t>
            </a:r>
            <a:endParaRPr lang="fr-FR" sz="16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 lvl="5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0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400050" lvl="5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UPDATE</a:t>
            </a:r>
          </a:p>
          <a:p>
            <a:pPr marL="114300" lvl="5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	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UPDATE table SET nom_colonne_1 = 'nouvelle valeur’</a:t>
            </a:r>
          </a:p>
          <a:p>
            <a:pPr marL="114300" lvl="5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	</a:t>
            </a:r>
            <a:r>
              <a:rPr lang="en-US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 WHERE condition</a:t>
            </a:r>
          </a:p>
          <a:p>
            <a:pPr marL="114300" lvl="5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0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DELETE</a:t>
            </a: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	</a:t>
            </a:r>
            <a:r>
              <a:rPr lang="en-US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DELETE FROM `table`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en-US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	WHERE condition</a:t>
            </a:r>
            <a:endParaRPr lang="fr-FR" dirty="0">
              <a:solidFill>
                <a:srgbClr val="617A86"/>
              </a:solidFill>
              <a:latin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46395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71">
            <a:extLst>
              <a:ext uri="{FF2B5EF4-FFF2-40B4-BE49-F238E27FC236}">
                <a16:creationId xmlns:a16="http://schemas.microsoft.com/office/drawing/2014/main" id="{A4BB76A6-FCF5-4540-9C7E-14AF8A5EE250}"/>
              </a:ext>
            </a:extLst>
          </p:cNvPr>
          <p:cNvSpPr txBox="1">
            <a:spLocks/>
          </p:cNvSpPr>
          <p:nvPr/>
        </p:nvSpPr>
        <p:spPr>
          <a:xfrm>
            <a:off x="1558242" y="277240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Opérateurs de comparaisons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8AB76D6-3A54-4AEB-B3EE-CEB2C5FB3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89695"/>
              </p:ext>
            </p:extLst>
          </p:nvPr>
        </p:nvGraphicFramePr>
        <p:xfrm>
          <a:off x="3092093" y="955968"/>
          <a:ext cx="2959814" cy="377424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79907">
                  <a:extLst>
                    <a:ext uri="{9D8B030D-6E8A-4147-A177-3AD203B41FA5}">
                      <a16:colId xmlns:a16="http://schemas.microsoft.com/office/drawing/2014/main" val="4134070567"/>
                    </a:ext>
                  </a:extLst>
                </a:gridCol>
                <a:gridCol w="1479907">
                  <a:extLst>
                    <a:ext uri="{9D8B030D-6E8A-4147-A177-3AD203B41FA5}">
                      <a16:colId xmlns:a16="http://schemas.microsoft.com/office/drawing/2014/main" val="178114424"/>
                    </a:ext>
                  </a:extLst>
                </a:gridCol>
              </a:tblGrid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=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Égale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1231372224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&lt;&gt;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Pas égale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3693651272"/>
                  </a:ext>
                </a:extLst>
              </a:tr>
              <a:tr h="232162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!=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Pas égale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2579168861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&gt;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Supérieur à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1279733377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&lt;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Inférieur à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1114678976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&gt;=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Supérieur ou égale à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131560664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&lt;=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Inférieur ou égale à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1496946106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IN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Liste de plusieurs valeurs possibles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2453139356"/>
                  </a:ext>
                </a:extLst>
              </a:tr>
              <a:tr h="669219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BETWEEN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Valeur comprise dans un intervalle donnée (utile pour les nombres ou dates)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2860669050"/>
                  </a:ext>
                </a:extLst>
              </a:tr>
              <a:tr h="522060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LIKE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Recherche en spécifiant le début, milieu ou fin d'un mot.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2753469720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IS NULL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50" dirty="0">
                          <a:effectLst/>
                        </a:rPr>
                        <a:t>Valeur est nulle</a:t>
                      </a:r>
                      <a:endParaRPr lang="fr-FR" sz="105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extLst>
                  <a:ext uri="{0D108BD9-81ED-4DB2-BD59-A6C34878D82A}">
                    <a16:rowId xmlns:a16="http://schemas.microsoft.com/office/drawing/2014/main" val="3599700955"/>
                  </a:ext>
                </a:extLst>
              </a:tr>
              <a:tr h="227741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dirty="0">
                          <a:effectLst/>
                        </a:rPr>
                        <a:t>IS NOT NULL</a:t>
                      </a:r>
                      <a:endParaRPr lang="fr-FR" sz="1000" b="0" dirty="0">
                        <a:effectLst/>
                        <a:latin typeface="Karla" panose="020B0604020202020204" charset="0"/>
                      </a:endParaRPr>
                    </a:p>
                  </a:txBody>
                  <a:tcPr marL="37553" marR="37553" marT="37553" marB="37553"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Valeur n'est pas nulle</a:t>
                      </a:r>
                    </a:p>
                  </a:txBody>
                  <a:tcPr marL="56329" marR="56329" marT="28164" marB="28164"/>
                </a:tc>
                <a:extLst>
                  <a:ext uri="{0D108BD9-81ED-4DB2-BD59-A6C34878D82A}">
                    <a16:rowId xmlns:a16="http://schemas.microsoft.com/office/drawing/2014/main" val="3321060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544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71">
            <a:extLst>
              <a:ext uri="{FF2B5EF4-FFF2-40B4-BE49-F238E27FC236}">
                <a16:creationId xmlns:a16="http://schemas.microsoft.com/office/drawing/2014/main" id="{A4BB76A6-FCF5-4540-9C7E-14AF8A5EE250}"/>
              </a:ext>
            </a:extLst>
          </p:cNvPr>
          <p:cNvSpPr txBox="1">
            <a:spLocks/>
          </p:cNvSpPr>
          <p:nvPr/>
        </p:nvSpPr>
        <p:spPr>
          <a:xfrm>
            <a:off x="1503300" y="298505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Les fonctions</a:t>
            </a:r>
          </a:p>
        </p:txBody>
      </p:sp>
      <p:sp>
        <p:nvSpPr>
          <p:cNvPr id="4" name="Shape 672">
            <a:extLst>
              <a:ext uri="{FF2B5EF4-FFF2-40B4-BE49-F238E27FC236}">
                <a16:creationId xmlns:a16="http://schemas.microsoft.com/office/drawing/2014/main" id="{0E4F1E9C-97E3-4229-9060-6EE8DD610EAB}"/>
              </a:ext>
            </a:extLst>
          </p:cNvPr>
          <p:cNvSpPr txBox="1">
            <a:spLocks/>
          </p:cNvSpPr>
          <p:nvPr/>
        </p:nvSpPr>
        <p:spPr>
          <a:xfrm>
            <a:off x="1617169" y="665344"/>
            <a:ext cx="5909662" cy="478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SUM() calculer la somme d’un set de résultat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MAX() obtenir le résultat maximum (fonctionne bien pour un entier)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MIN() obtenir le résultat minimum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COUNT() compter le nombre de lignes dans un résultat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ROUND() arrondir la valeur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UPPER() afficher une chaîne en majuscule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LOWER() afficher une chaîne en minuscule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CONCAT() concaténer des chaînes de caractères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CURRENT_DATE() date actuelle</a:t>
            </a:r>
          </a:p>
          <a:p>
            <a:pPr marL="457200" indent="-228600">
              <a:spcBef>
                <a:spcPts val="600"/>
              </a:spcBef>
              <a:buClr>
                <a:srgbClr val="A1BECC"/>
              </a:buClr>
              <a:buSzPts val="1800"/>
              <a:buFont typeface="Varela Round"/>
              <a:buNone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228600">
              <a:spcBef>
                <a:spcPts val="600"/>
              </a:spcBef>
              <a:buClr>
                <a:srgbClr val="A1BECC"/>
              </a:buClr>
              <a:buSzPts val="1800"/>
              <a:buFont typeface="Varela Round"/>
              <a:buNone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Exemple: </a:t>
            </a:r>
          </a:p>
          <a:p>
            <a:pPr marL="457200" indent="-228600">
              <a:spcBef>
                <a:spcPts val="600"/>
              </a:spcBef>
              <a:buClr>
                <a:srgbClr val="A1BECC"/>
              </a:buClr>
              <a:buSzPts val="1800"/>
              <a:buFont typeface="Varela Round"/>
              <a:buNone/>
            </a:pPr>
            <a:endParaRPr lang="fr-FR" sz="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228600">
              <a:spcBef>
                <a:spcPts val="600"/>
              </a:spcBef>
              <a:buClr>
                <a:srgbClr val="A1BECC"/>
              </a:buClr>
              <a:buSzPts val="1800"/>
              <a:buFont typeface="Varela Round"/>
              <a:buNone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SUM(salaire) FROM TABLE_SALAIRE;</a:t>
            </a:r>
          </a:p>
        </p:txBody>
      </p:sp>
    </p:spTree>
    <p:extLst>
      <p:ext uri="{BB962C8B-B14F-4D97-AF65-F5344CB8AC3E}">
        <p14:creationId xmlns:p14="http://schemas.microsoft.com/office/powerpoint/2010/main" val="324813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71">
            <a:extLst>
              <a:ext uri="{FF2B5EF4-FFF2-40B4-BE49-F238E27FC236}">
                <a16:creationId xmlns:a16="http://schemas.microsoft.com/office/drawing/2014/main" id="{A4BB76A6-FCF5-4540-9C7E-14AF8A5EE250}"/>
              </a:ext>
            </a:extLst>
          </p:cNvPr>
          <p:cNvSpPr txBox="1">
            <a:spLocks/>
          </p:cNvSpPr>
          <p:nvPr/>
        </p:nvSpPr>
        <p:spPr>
          <a:xfrm>
            <a:off x="1504371" y="193385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Group By</a:t>
            </a:r>
          </a:p>
        </p:txBody>
      </p:sp>
      <p:sp>
        <p:nvSpPr>
          <p:cNvPr id="3" name="Shape 672">
            <a:extLst>
              <a:ext uri="{FF2B5EF4-FFF2-40B4-BE49-F238E27FC236}">
                <a16:creationId xmlns:a16="http://schemas.microsoft.com/office/drawing/2014/main" id="{3A9C108F-37E1-4CB0-AAC0-7671E9172CF6}"/>
              </a:ext>
            </a:extLst>
          </p:cNvPr>
          <p:cNvSpPr txBox="1">
            <a:spLocks/>
          </p:cNvSpPr>
          <p:nvPr/>
        </p:nvSpPr>
        <p:spPr>
          <a:xfrm>
            <a:off x="1344513" y="694373"/>
            <a:ext cx="6297258" cy="425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Utilisé avec les fonctions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Permet de grouper plusieurs résultats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Exemple :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SELECT </a:t>
            </a:r>
            <a:r>
              <a:rPr lang="fr-FR" dirty="0">
                <a:solidFill>
                  <a:srgbClr val="FF0000"/>
                </a:solidFill>
                <a:latin typeface="Varela Round"/>
                <a:cs typeface="Varela Round"/>
              </a:rPr>
              <a:t>nom_ joueur, </a:t>
            </a:r>
            <a:r>
              <a:rPr lang="fr-FR" dirty="0" err="1">
                <a:solidFill>
                  <a:srgbClr val="FF0000"/>
                </a:solidFill>
                <a:latin typeface="Varela Round"/>
                <a:cs typeface="Varela Round"/>
              </a:rPr>
              <a:t>id_joueur</a:t>
            </a:r>
            <a:r>
              <a:rPr lang="fr-FR" dirty="0">
                <a:solidFill>
                  <a:srgbClr val="FF0000"/>
                </a:solidFill>
                <a:latin typeface="Varela Round"/>
                <a:cs typeface="Varela Round"/>
              </a:rPr>
              <a:t> 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, SUM(</a:t>
            </a:r>
            <a:r>
              <a:rPr lang="fr-FR" dirty="0" err="1">
                <a:solidFill>
                  <a:srgbClr val="617A86"/>
                </a:solidFill>
                <a:latin typeface="Varela Round"/>
                <a:cs typeface="Varela Round"/>
              </a:rPr>
              <a:t>quantité_de_sel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FROM JOUEUR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JOIN PARTIE_FORTNITE ON </a:t>
            </a:r>
            <a:r>
              <a:rPr lang="fr-FR" dirty="0" err="1">
                <a:solidFill>
                  <a:srgbClr val="617A86"/>
                </a:solidFill>
                <a:latin typeface="Varela Round"/>
                <a:cs typeface="Varela Round"/>
              </a:rPr>
              <a:t>id_joueur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 = </a:t>
            </a:r>
            <a:r>
              <a:rPr lang="fr-FR" dirty="0" err="1">
                <a:solidFill>
                  <a:srgbClr val="617A86"/>
                </a:solidFill>
                <a:latin typeface="Varela Round"/>
                <a:cs typeface="Varela Round"/>
              </a:rPr>
              <a:t>id_joueur_fortnite</a:t>
            </a:r>
            <a:endParaRPr lang="fr-FR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GROUP BY </a:t>
            </a:r>
            <a:r>
              <a:rPr lang="fr-FR" dirty="0" err="1">
                <a:solidFill>
                  <a:srgbClr val="FF0000"/>
                </a:solidFill>
                <a:latin typeface="Varela Round"/>
                <a:cs typeface="Varela Round"/>
              </a:rPr>
              <a:t>nom_joueur</a:t>
            </a:r>
            <a:r>
              <a:rPr lang="fr-FR" dirty="0">
                <a:solidFill>
                  <a:srgbClr val="FF0000"/>
                </a:solidFill>
                <a:latin typeface="Varela Round"/>
                <a:cs typeface="Varela Round"/>
              </a:rPr>
              <a:t>, </a:t>
            </a:r>
            <a:r>
              <a:rPr lang="fr-FR" dirty="0" err="1">
                <a:solidFill>
                  <a:srgbClr val="FF0000"/>
                </a:solidFill>
                <a:latin typeface="Varela Round"/>
                <a:cs typeface="Varela Round"/>
              </a:rPr>
              <a:t>id_joueur</a:t>
            </a:r>
            <a:r>
              <a:rPr lang="fr-FR" dirty="0">
                <a:solidFill>
                  <a:srgbClr val="FF0000"/>
                </a:solidFill>
                <a:latin typeface="Varela Round"/>
                <a:cs typeface="Varela Round"/>
              </a:rPr>
              <a:t> </a:t>
            </a:r>
            <a:r>
              <a:rPr lang="fr-FR" dirty="0">
                <a:solidFill>
                  <a:srgbClr val="617A86"/>
                </a:solidFill>
                <a:latin typeface="Varela Round"/>
                <a:cs typeface="Varela Round"/>
              </a:rPr>
              <a:t>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Cette requête permet de calculer la somme de sel accumulé par chaque joueur sur toutes les parties de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Fortnite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FF0000"/>
                </a:solidFill>
                <a:latin typeface="Varela Round"/>
                <a:ea typeface="Varela Round"/>
                <a:cs typeface="Varela Round"/>
                <a:sym typeface="Varela Round"/>
              </a:rPr>
              <a:t>Le GROUP BY contient tous les champs utilisés dans le SELECT sur lesquels il n’y a pas de fonctions appliquées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</p:txBody>
      </p:sp>
      <p:pic>
        <p:nvPicPr>
          <p:cNvPr id="5122" name="Picture 2" descr="RÃ©sultat de recherche d'images pour &quot;salty fortnite&quot;">
            <a:extLst>
              <a:ext uri="{FF2B5EF4-FFF2-40B4-BE49-F238E27FC236}">
                <a16:creationId xmlns:a16="http://schemas.microsoft.com/office/drawing/2014/main" id="{2F3C8651-638D-4271-9C34-859AB0465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300" y="361507"/>
            <a:ext cx="2260684" cy="118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25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71">
            <a:extLst>
              <a:ext uri="{FF2B5EF4-FFF2-40B4-BE49-F238E27FC236}">
                <a16:creationId xmlns:a16="http://schemas.microsoft.com/office/drawing/2014/main" id="{A4BB76A6-FCF5-4540-9C7E-14AF8A5EE250}"/>
              </a:ext>
            </a:extLst>
          </p:cNvPr>
          <p:cNvSpPr txBox="1">
            <a:spLocks/>
          </p:cNvSpPr>
          <p:nvPr/>
        </p:nvSpPr>
        <p:spPr>
          <a:xfrm>
            <a:off x="1558242" y="277240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La condition </a:t>
            </a:r>
            <a:r>
              <a:rPr lang="fr-FR" sz="2400" dirty="0" err="1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Having</a:t>
            </a:r>
            <a:endParaRPr lang="fr-FR" sz="2400" dirty="0">
              <a:solidFill>
                <a:srgbClr val="02BDC7"/>
              </a:solidFill>
              <a:latin typeface="Roboto Slab Light"/>
              <a:ea typeface="Roboto Slab Light"/>
              <a:sym typeface="Nixie One"/>
            </a:endParaRPr>
          </a:p>
        </p:txBody>
      </p:sp>
      <p:sp>
        <p:nvSpPr>
          <p:cNvPr id="3" name="Shape 672">
            <a:extLst>
              <a:ext uri="{FF2B5EF4-FFF2-40B4-BE49-F238E27FC236}">
                <a16:creationId xmlns:a16="http://schemas.microsoft.com/office/drawing/2014/main" id="{3A9C108F-37E1-4CB0-AAC0-7671E9172CF6}"/>
              </a:ext>
            </a:extLst>
          </p:cNvPr>
          <p:cNvSpPr txBox="1">
            <a:spLocks/>
          </p:cNvSpPr>
          <p:nvPr/>
        </p:nvSpPr>
        <p:spPr>
          <a:xfrm>
            <a:off x="1378858" y="777796"/>
            <a:ext cx="7064321" cy="425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HAVING = WHERE 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Se place après un GROUP BY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Exemple :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600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On veut connaitre le </a:t>
            </a:r>
            <a:r>
              <a:rPr lang="fr-FR" sz="1600" dirty="0">
                <a:solidFill>
                  <a:srgbClr val="00B0F0"/>
                </a:solidFill>
                <a:latin typeface="Varela Round"/>
                <a:cs typeface="Varela Round"/>
                <a:sym typeface="Varela Round"/>
              </a:rPr>
              <a:t>nombre</a:t>
            </a: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 de transformation que possèdent chaque </a:t>
            </a:r>
            <a:r>
              <a:rPr lang="fr-FR" sz="1600" dirty="0">
                <a:solidFill>
                  <a:srgbClr val="00B0F0"/>
                </a:solidFill>
                <a:latin typeface="Varela Round"/>
                <a:cs typeface="Varela Round"/>
                <a:sym typeface="Varela Round"/>
              </a:rPr>
              <a:t>personnage </a:t>
            </a: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uniquement pour ceux qui en ont </a:t>
            </a:r>
            <a:r>
              <a:rPr lang="fr-FR" sz="1600" dirty="0">
                <a:solidFill>
                  <a:srgbClr val="00B0F0"/>
                </a:solidFill>
                <a:latin typeface="Varela Round"/>
                <a:cs typeface="Varela Round"/>
                <a:sym typeface="Varela Round"/>
              </a:rPr>
              <a:t>au moins une</a:t>
            </a: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  <a:sym typeface="Varela Round"/>
              </a:rPr>
              <a:t>.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63000D4-4EE5-454B-AAA6-8E59FF3DB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475783"/>
              </p:ext>
            </p:extLst>
          </p:nvPr>
        </p:nvGraphicFramePr>
        <p:xfrm>
          <a:off x="843010" y="2954156"/>
          <a:ext cx="2990066" cy="1524000"/>
        </p:xfrm>
        <a:graphic>
          <a:graphicData uri="http://schemas.openxmlformats.org/drawingml/2006/table">
            <a:tbl>
              <a:tblPr firstRow="1" bandRow="1">
                <a:tableStyleId>{6D3C3DD0-CAD1-4107-8FEA-5C4A154266CE}</a:tableStyleId>
              </a:tblPr>
              <a:tblGrid>
                <a:gridCol w="1402271">
                  <a:extLst>
                    <a:ext uri="{9D8B030D-6E8A-4147-A177-3AD203B41FA5}">
                      <a16:colId xmlns:a16="http://schemas.microsoft.com/office/drawing/2014/main" val="1382924572"/>
                    </a:ext>
                  </a:extLst>
                </a:gridCol>
                <a:gridCol w="1587795">
                  <a:extLst>
                    <a:ext uri="{9D8B030D-6E8A-4147-A177-3AD203B41FA5}">
                      <a16:colId xmlns:a16="http://schemas.microsoft.com/office/drawing/2014/main" val="765839348"/>
                    </a:ext>
                  </a:extLst>
                </a:gridCol>
              </a:tblGrid>
              <a:tr h="199508">
                <a:tc gridSpan="2">
                  <a:txBody>
                    <a:bodyPr/>
                    <a:lstStyle/>
                    <a:p>
                      <a:r>
                        <a:rPr lang="fr-FR" dirty="0"/>
                        <a:t>PERSONNAGE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478084"/>
                  </a:ext>
                </a:extLst>
              </a:tr>
              <a:tr h="183661">
                <a:tc>
                  <a:txBody>
                    <a:bodyPr/>
                    <a:lstStyle/>
                    <a:p>
                      <a:r>
                        <a:rPr lang="fr-FR" dirty="0" err="1"/>
                        <a:t>Id_personnage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nom_personnage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134573"/>
                  </a:ext>
                </a:extLst>
              </a:tr>
              <a:tr h="263071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Goku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94408"/>
                  </a:ext>
                </a:extLst>
              </a:tr>
              <a:tr h="263071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Yamcha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990018"/>
                  </a:ext>
                </a:extLst>
              </a:tr>
              <a:tr h="263071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Piccolo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844430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E67DE71-2969-4D36-B068-4F0DC7D44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064073"/>
              </p:ext>
            </p:extLst>
          </p:nvPr>
        </p:nvGraphicFramePr>
        <p:xfrm>
          <a:off x="4236897" y="2801756"/>
          <a:ext cx="3528245" cy="1828800"/>
        </p:xfrm>
        <a:graphic>
          <a:graphicData uri="http://schemas.openxmlformats.org/drawingml/2006/table">
            <a:tbl>
              <a:tblPr firstRow="1" bandRow="1">
                <a:tableStyleId>{6D3C3DD0-CAD1-4107-8FEA-5C4A154266CE}</a:tableStyleId>
              </a:tblPr>
              <a:tblGrid>
                <a:gridCol w="1398562">
                  <a:extLst>
                    <a:ext uri="{9D8B030D-6E8A-4147-A177-3AD203B41FA5}">
                      <a16:colId xmlns:a16="http://schemas.microsoft.com/office/drawing/2014/main" val="2495153953"/>
                    </a:ext>
                  </a:extLst>
                </a:gridCol>
                <a:gridCol w="2129683">
                  <a:extLst>
                    <a:ext uri="{9D8B030D-6E8A-4147-A177-3AD203B41FA5}">
                      <a16:colId xmlns:a16="http://schemas.microsoft.com/office/drawing/2014/main" val="697373810"/>
                    </a:ext>
                  </a:extLst>
                </a:gridCol>
              </a:tblGrid>
              <a:tr h="183661">
                <a:tc gridSpan="2">
                  <a:txBody>
                    <a:bodyPr/>
                    <a:lstStyle/>
                    <a:p>
                      <a:r>
                        <a:rPr lang="fr-FR" dirty="0"/>
                        <a:t>TRANSFORMATION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614303"/>
                  </a:ext>
                </a:extLst>
              </a:tr>
              <a:tr h="183661">
                <a:tc>
                  <a:txBody>
                    <a:bodyPr/>
                    <a:lstStyle/>
                    <a:p>
                      <a:r>
                        <a:rPr lang="fr-FR" dirty="0" err="1"/>
                        <a:t>Id_personnage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transformation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887968"/>
                  </a:ext>
                </a:extLst>
              </a:tr>
              <a:tr h="263071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Super </a:t>
                      </a:r>
                      <a:r>
                        <a:rPr lang="fr-FR" dirty="0" err="1"/>
                        <a:t>saiyan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10281"/>
                  </a:ext>
                </a:extLst>
              </a:tr>
              <a:tr h="263071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Dieu absorbé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3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Kaioken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3006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dirty="0"/>
                        <a:t>Super </a:t>
                      </a:r>
                      <a:r>
                        <a:rPr lang="fr-FR" dirty="0" err="1"/>
                        <a:t>saiyan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God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077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961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71">
            <a:extLst>
              <a:ext uri="{FF2B5EF4-FFF2-40B4-BE49-F238E27FC236}">
                <a16:creationId xmlns:a16="http://schemas.microsoft.com/office/drawing/2014/main" id="{A4BB76A6-FCF5-4540-9C7E-14AF8A5EE250}"/>
              </a:ext>
            </a:extLst>
          </p:cNvPr>
          <p:cNvSpPr txBox="1">
            <a:spLocks/>
          </p:cNvSpPr>
          <p:nvPr/>
        </p:nvSpPr>
        <p:spPr>
          <a:xfrm>
            <a:off x="1558242" y="277240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Nixie One"/>
              </a:rPr>
              <a:t>Solution</a:t>
            </a:r>
          </a:p>
        </p:txBody>
      </p:sp>
      <p:sp>
        <p:nvSpPr>
          <p:cNvPr id="3" name="Shape 672">
            <a:extLst>
              <a:ext uri="{FF2B5EF4-FFF2-40B4-BE49-F238E27FC236}">
                <a16:creationId xmlns:a16="http://schemas.microsoft.com/office/drawing/2014/main" id="{3A9C108F-37E1-4CB0-AAC0-7671E9172CF6}"/>
              </a:ext>
            </a:extLst>
          </p:cNvPr>
          <p:cNvSpPr txBox="1">
            <a:spLocks/>
          </p:cNvSpPr>
          <p:nvPr/>
        </p:nvSpPr>
        <p:spPr>
          <a:xfrm>
            <a:off x="1438018" y="538632"/>
            <a:ext cx="7064321" cy="197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nom_personnage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, COUNT(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T.transformation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FROM PERSONNAGE P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JOIN TRANSFORMATION T ON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T.id_personnage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=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p.id_personnage</a:t>
            </a: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GROUP BY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nom_personnage</a:t>
            </a: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HAVING COUNT(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T.transformation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) &gt; 0;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5E4631A3-3116-427E-96DB-C90DC4BC1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069875"/>
              </p:ext>
            </p:extLst>
          </p:nvPr>
        </p:nvGraphicFramePr>
        <p:xfrm>
          <a:off x="1942214" y="2777764"/>
          <a:ext cx="5371682" cy="1285240"/>
        </p:xfrm>
        <a:graphic>
          <a:graphicData uri="http://schemas.openxmlformats.org/drawingml/2006/table">
            <a:tbl>
              <a:tblPr firstRow="1" bandRow="1">
                <a:tableStyleId>{6D3C3DD0-CAD1-4107-8FEA-5C4A154266CE}</a:tableStyleId>
              </a:tblPr>
              <a:tblGrid>
                <a:gridCol w="2684728">
                  <a:extLst>
                    <a:ext uri="{9D8B030D-6E8A-4147-A177-3AD203B41FA5}">
                      <a16:colId xmlns:a16="http://schemas.microsoft.com/office/drawing/2014/main" val="3258037237"/>
                    </a:ext>
                  </a:extLst>
                </a:gridCol>
                <a:gridCol w="2686954">
                  <a:extLst>
                    <a:ext uri="{9D8B030D-6E8A-4147-A177-3AD203B41FA5}">
                      <a16:colId xmlns:a16="http://schemas.microsoft.com/office/drawing/2014/main" val="1058208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nom_personnage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COUNT(</a:t>
                      </a:r>
                      <a:r>
                        <a:rPr lang="fr-FR" dirty="0" err="1"/>
                        <a:t>T.transformation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542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dirty="0" err="1"/>
                        <a:t>Goku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4587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fr-FR" dirty="0"/>
                        <a:t>Piccolo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76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 err="1"/>
                        <a:t>Yamcha</a:t>
                      </a:r>
                      <a:endParaRPr lang="fr-FR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575470"/>
                  </a:ext>
                </a:extLst>
              </a:tr>
            </a:tbl>
          </a:graphicData>
        </a:graphic>
      </p:graphicFrame>
      <p:pic>
        <p:nvPicPr>
          <p:cNvPr id="7172" name="Picture 4" descr="RÃ©sultat de recherche d'images pour &quot;fleche png&quot;">
            <a:extLst>
              <a:ext uri="{FF2B5EF4-FFF2-40B4-BE49-F238E27FC236}">
                <a16:creationId xmlns:a16="http://schemas.microsoft.com/office/drawing/2014/main" id="{8997F65B-EB63-4F07-8CE9-C4DE8ECBE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04007">
            <a:off x="457418" y="2314715"/>
            <a:ext cx="1626847" cy="162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7711A68-D892-4EE9-85C6-71F0CD7E331E}"/>
              </a:ext>
            </a:extLst>
          </p:cNvPr>
          <p:cNvSpPr txBox="1"/>
          <p:nvPr/>
        </p:nvSpPr>
        <p:spPr>
          <a:xfrm>
            <a:off x="148872" y="3112607"/>
            <a:ext cx="657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Filtre</a:t>
            </a:r>
          </a:p>
        </p:txBody>
      </p:sp>
    </p:spTree>
    <p:extLst>
      <p:ext uri="{BB962C8B-B14F-4D97-AF65-F5344CB8AC3E}">
        <p14:creationId xmlns:p14="http://schemas.microsoft.com/office/powerpoint/2010/main" val="5943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065BCB-F432-439B-8429-02BA873CE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85" y="1331087"/>
            <a:ext cx="3709759" cy="310201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095FB7C-5908-4AC1-8343-C0754468F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31087"/>
            <a:ext cx="3709758" cy="3166087"/>
          </a:xfrm>
          <a:prstGeom prst="rect">
            <a:avLst/>
          </a:prstGeom>
        </p:spPr>
      </p:pic>
      <p:sp>
        <p:nvSpPr>
          <p:cNvPr id="5" name="Shape 671">
            <a:extLst>
              <a:ext uri="{FF2B5EF4-FFF2-40B4-BE49-F238E27FC236}">
                <a16:creationId xmlns:a16="http://schemas.microsoft.com/office/drawing/2014/main" id="{31700098-10A4-4582-A0BB-29AFC562C241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jointures</a:t>
            </a:r>
          </a:p>
        </p:txBody>
      </p:sp>
    </p:spTree>
    <p:extLst>
      <p:ext uri="{BB962C8B-B14F-4D97-AF65-F5344CB8AC3E}">
        <p14:creationId xmlns:p14="http://schemas.microsoft.com/office/powerpoint/2010/main" val="102345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734ED7-1CC1-4047-8BD4-18164320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7" y="1325919"/>
            <a:ext cx="3397274" cy="319155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A9E87F4-4B05-4C44-806F-9E77B5DAC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636" y="1298082"/>
            <a:ext cx="3753698" cy="3201123"/>
          </a:xfrm>
          <a:prstGeom prst="rect">
            <a:avLst/>
          </a:prstGeom>
        </p:spPr>
      </p:pic>
      <p:sp>
        <p:nvSpPr>
          <p:cNvPr id="7" name="Shape 671">
            <a:extLst>
              <a:ext uri="{FF2B5EF4-FFF2-40B4-BE49-F238E27FC236}">
                <a16:creationId xmlns:a16="http://schemas.microsoft.com/office/drawing/2014/main" id="{793EE86A-F8AD-4EC6-A4B4-3B58B264BBE3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jointures</a:t>
            </a:r>
          </a:p>
        </p:txBody>
      </p:sp>
    </p:spTree>
    <p:extLst>
      <p:ext uri="{BB962C8B-B14F-4D97-AF65-F5344CB8AC3E}">
        <p14:creationId xmlns:p14="http://schemas.microsoft.com/office/powerpoint/2010/main" val="2061009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22EAE1-7006-419B-BFF6-1D17B9D35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7" y="995423"/>
            <a:ext cx="4001163" cy="339927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9E98962-0AD5-4AE4-BA1F-A7430ED06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857" y="1068555"/>
            <a:ext cx="3572306" cy="3326147"/>
          </a:xfrm>
          <a:prstGeom prst="rect">
            <a:avLst/>
          </a:prstGeom>
        </p:spPr>
      </p:pic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jointures</a:t>
            </a:r>
          </a:p>
        </p:txBody>
      </p:sp>
    </p:spTree>
    <p:extLst>
      <p:ext uri="{BB962C8B-B14F-4D97-AF65-F5344CB8AC3E}">
        <p14:creationId xmlns:p14="http://schemas.microsoft.com/office/powerpoint/2010/main" val="384509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mots clés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344513" y="694373"/>
            <a:ext cx="6297258" cy="425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EXPLAIN (EXPLAIN PLAN sous Oracle) permet d’afficher le plan d’exécution d’une requête SQL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00B050"/>
                </a:solidFill>
                <a:latin typeface="Varela Round"/>
                <a:cs typeface="Varela Round"/>
                <a:sym typeface="Varela Round"/>
              </a:rPr>
              <a:t>EXPLAIN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SELECT * FROM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ma_table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;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Permet de voir si la requête passe bien par les index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D061820-7F93-4521-B894-FA62591B5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2" y="2436020"/>
            <a:ext cx="8549279" cy="130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51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mots clés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344513" y="1122998"/>
            <a:ext cx="6297258" cy="425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UNION permet de fusionner les résultats de 2 requêtes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nom,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age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FROM personnes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00B050"/>
                </a:solidFill>
                <a:latin typeface="Varela Round"/>
                <a:cs typeface="Varela Round"/>
                <a:sym typeface="Varela Round"/>
              </a:rPr>
              <a:t>UNION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nom,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age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FROM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autre_personnes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Les résultats ne forment plus qu’un seul résultat</a:t>
            </a:r>
          </a:p>
        </p:txBody>
      </p:sp>
    </p:spTree>
    <p:extLst>
      <p:ext uri="{BB962C8B-B14F-4D97-AF65-F5344CB8AC3E}">
        <p14:creationId xmlns:p14="http://schemas.microsoft.com/office/powerpoint/2010/main" val="1158891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mots clés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344513" y="694373"/>
            <a:ext cx="6297258" cy="425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MINUS permet de soustraire un résultat d’une requête à un autre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* FROM A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00B050"/>
                </a:solidFill>
                <a:latin typeface="Varela Round"/>
                <a:cs typeface="Varela Round"/>
                <a:sym typeface="Varela Round"/>
              </a:rPr>
              <a:t>MINUS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* FROM B;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C5B973-1774-4019-8EE0-F49FEE7B6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57" y="2107406"/>
            <a:ext cx="31432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50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92966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mots clés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344512" y="694373"/>
            <a:ext cx="6663631" cy="425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LIMIT permet de limiter le nombre de résultat d’une requête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SELECT * FROM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comptes_bancaires</a:t>
            </a: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ORDER BY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solde_bancaire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DESC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00B050"/>
                </a:solidFill>
                <a:latin typeface="Varela Round"/>
                <a:ea typeface="Varela Round"/>
                <a:cs typeface="Varela Round"/>
                <a:sym typeface="Varela Round"/>
              </a:rPr>
              <a:t>LIMIT 10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Retourne les 10 résultats dont le solde bancaire est le plus élevé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80139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71535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Les index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326772" y="1055320"/>
            <a:ext cx="7065562" cy="417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Permet d’accéder plus rapidement aux données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Occupe de l’espace dans la BDD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Ralentit l’insertion de données à cause de la mise à jour de l’index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CREATE INDEX `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nom_index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` ON table (`colonne1`, `colonne2`);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Convention de nommage: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Préfixe “PK_” pour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Primary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Key (traduction : clé primaire)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Préfixe “FK_” pour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Foreign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Key (traduction : clé étrangère)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Préfixe “UK_” pour Unique Key (traduction : clé unique)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Préfixe “UX_” pour Unique Index (traduction : index unique)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Préfixe “IX_” pour chaque autre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IndeX</a:t>
            </a: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656756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Shape 671"/>
          <p:cNvSpPr txBox="1">
            <a:spLocks noGrp="1"/>
          </p:cNvSpPr>
          <p:nvPr>
            <p:ph type="title"/>
          </p:nvPr>
        </p:nvSpPr>
        <p:spPr>
          <a:xfrm>
            <a:off x="1558242" y="277240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DDL (DATA DEFINITION LANGAGE)</a:t>
            </a:r>
          </a:p>
        </p:txBody>
      </p:sp>
      <p:sp>
        <p:nvSpPr>
          <p:cNvPr id="7" name="Shape 522">
            <a:extLst>
              <a:ext uri="{FF2B5EF4-FFF2-40B4-BE49-F238E27FC236}">
                <a16:creationId xmlns:a16="http://schemas.microsoft.com/office/drawing/2014/main" id="{04AE6350-B5D9-424F-8FC3-5141FBE08204}"/>
              </a:ext>
            </a:extLst>
          </p:cNvPr>
          <p:cNvSpPr txBox="1">
            <a:spLocks/>
          </p:cNvSpPr>
          <p:nvPr/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rgbClr val="A6BCC9"/>
                </a:solidFill>
                <a:latin typeface="Lato Light"/>
                <a:ea typeface="Lato Light"/>
                <a:cs typeface="Lato Light"/>
                <a:sym typeface="Lato Light"/>
              </a:rPr>
              <a:pPr algn="r">
                <a:buSzPts val="1200"/>
              </a:pPr>
              <a:t>19</a:t>
            </a:fld>
            <a:endParaRPr lang="en" sz="1200" dirty="0">
              <a:solidFill>
                <a:srgbClr val="A6BCC9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Shape 672">
            <a:extLst>
              <a:ext uri="{FF2B5EF4-FFF2-40B4-BE49-F238E27FC236}">
                <a16:creationId xmlns:a16="http://schemas.microsoft.com/office/drawing/2014/main" id="{71002564-3984-45FF-8580-6203B3D57C60}"/>
              </a:ext>
            </a:extLst>
          </p:cNvPr>
          <p:cNvSpPr txBox="1">
            <a:spLocks/>
          </p:cNvSpPr>
          <p:nvPr/>
        </p:nvSpPr>
        <p:spPr>
          <a:xfrm>
            <a:off x="2244736" y="694372"/>
            <a:ext cx="6297258" cy="452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CREATE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ALTER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DROP</a:t>
            </a:r>
            <a:endParaRPr lang="fr-FR" dirty="0">
              <a:solidFill>
                <a:srgbClr val="617A86"/>
              </a:solidFill>
              <a:latin typeface="Varela Round"/>
              <a:cs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-CREATE DATABASE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nom_database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-CREATE TABLE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nom_de_la_table</a:t>
            </a: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(    colonne1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type_donnees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   colonne2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type_donnees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   colonne3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type_donnees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   colonne4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type_donnees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);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-DROP TABLE </a:t>
            </a:r>
            <a:r>
              <a:rPr lang="fr-FR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nom_de_la_table</a:t>
            </a:r>
            <a:r>
              <a:rPr lang="fr-FR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;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2879444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>
            <a:spLocks noGrp="1"/>
          </p:cNvSpPr>
          <p:nvPr>
            <p:ph type="ctrTitle"/>
          </p:nvPr>
        </p:nvSpPr>
        <p:spPr>
          <a:xfrm>
            <a:off x="2886150" y="2249653"/>
            <a:ext cx="3371700" cy="64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BDC7"/>
              </a:buClr>
              <a:buSzPts val="3000"/>
              <a:buFont typeface="Roboto Slab Light"/>
              <a:buNone/>
            </a:pPr>
            <a:r>
              <a:rPr lang="fr-FR" sz="3200" dirty="0"/>
              <a:t>Python</a:t>
            </a:r>
            <a:endParaRPr lang="fr-FR" sz="5400" dirty="0"/>
          </a:p>
        </p:txBody>
      </p:sp>
      <p:sp>
        <p:nvSpPr>
          <p:cNvPr id="3" name="Shape 522">
            <a:extLst>
              <a:ext uri="{FF2B5EF4-FFF2-40B4-BE49-F238E27FC236}">
                <a16:creationId xmlns:a16="http://schemas.microsoft.com/office/drawing/2014/main" id="{CC6267DE-C841-48AB-85BB-E3273C17E32C}"/>
              </a:ext>
            </a:extLst>
          </p:cNvPr>
          <p:cNvSpPr txBox="1">
            <a:spLocks/>
          </p:cNvSpPr>
          <p:nvPr/>
        </p:nvSpPr>
        <p:spPr>
          <a:xfrm>
            <a:off x="8117984" y="4180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1200"/>
            </a:pPr>
            <a:fld id="{00000000-1234-1234-1234-123412341234}" type="slidenum">
              <a:rPr lang="en" sz="1200" smtClean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pPr algn="r">
                <a:buSzPts val="1200"/>
              </a:pPr>
              <a:t>20</a:t>
            </a:fld>
            <a:endParaRPr lang="en"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947257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71535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Python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732917" y="699110"/>
            <a:ext cx="7461040" cy="417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Python est un langage interprété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Plus lent que les langages compilés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Peut utiliser des librairies compilées pour plus d’efficacité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C’est un « vrai » langage c.-à-d. types de données, branchements conditionnels,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boucles, organisation du code en procédures et fonctions, objets et classes,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découpage en modules.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Très bien structuré, facile à appréhender, c’est un langage privilégié pour l’enseignement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Mode d’exécution : transmettre à l’interpréteur Python le fichier script « .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py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 »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https://python.sdv.univ-paris-diderot.fr/05_boucles_comparaisons/</a:t>
            </a:r>
          </a:p>
        </p:txBody>
      </p:sp>
    </p:spTree>
    <p:extLst>
      <p:ext uri="{BB962C8B-B14F-4D97-AF65-F5344CB8AC3E}">
        <p14:creationId xmlns:p14="http://schemas.microsoft.com/office/powerpoint/2010/main" val="1456273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71535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Python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107454" y="811663"/>
            <a:ext cx="7065562" cy="417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Python se base sur l’utilisation de librairie externe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Très utilisé dans le traitement de données (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Numpy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,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Scipy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, Pandas…)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Plus complet et libre que le langage R mais plus </a:t>
            </a:r>
            <a:r>
              <a:rPr lang="fr-FR" sz="160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complexe parfois</a:t>
            </a: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883961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23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71535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Python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107454" y="811663"/>
            <a:ext cx="7065562" cy="417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Gestion des variables: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Déclaration et initialisation en même temps: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 lvl="1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&gt;&gt;&gt; x = </a:t>
            </a:r>
            <a:r>
              <a:rPr lang="fr-FR" sz="1600" dirty="0">
                <a:solidFill>
                  <a:srgbClr val="FF0000"/>
                </a:solidFill>
                <a:latin typeface="Varela Round"/>
                <a:ea typeface="Varela Round"/>
                <a:cs typeface="Varela Round"/>
                <a:sym typeface="Varela Round"/>
              </a:rPr>
              <a:t>2</a:t>
            </a:r>
          </a:p>
          <a:p>
            <a:pPr marL="114300" lvl="1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lvl="1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Typage dynamique : Python devine et adapte le type en fonction de son contenu</a:t>
            </a:r>
          </a:p>
          <a:p>
            <a:pPr marL="400050" lvl="1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Ici, x est un </a:t>
            </a:r>
            <a:r>
              <a:rPr lang="fr-FR" sz="1600" dirty="0">
                <a:solidFill>
                  <a:srgbClr val="FF0000"/>
                </a:solidFill>
                <a:latin typeface="Varela Round"/>
                <a:ea typeface="Varela Round"/>
                <a:cs typeface="Varela Round"/>
                <a:sym typeface="Varela Round"/>
              </a:rPr>
              <a:t>entier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&gt;&gt;&gt; x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</a:t>
            </a:r>
            <a:r>
              <a:rPr lang="fr-FR" sz="1600" dirty="0">
                <a:solidFill>
                  <a:srgbClr val="FF0000"/>
                </a:solidFill>
                <a:latin typeface="Varela Round"/>
                <a:ea typeface="Varela Round"/>
                <a:cs typeface="Varela Round"/>
                <a:sym typeface="Varela Round"/>
              </a:rPr>
              <a:t>2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093470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71535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Python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107454" y="811663"/>
            <a:ext cx="7065562" cy="417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Gestion des variables: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Une variable est sensible à la casse ( var != Var !=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vAR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Vérification du type :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	&gt;&gt;&gt; type(x)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	&lt;class ‘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int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’&gt;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Conversion de type :</a:t>
            </a:r>
          </a:p>
          <a:p>
            <a:pPr marL="114300" lvl="1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	&gt;&gt;&gt;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srt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(x)</a:t>
            </a:r>
          </a:p>
          <a:p>
            <a:pPr marL="114300" lvl="1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		‘2’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319888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43CE6F-B7D3-457F-AD0A-2A734BDFC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sp>
        <p:nvSpPr>
          <p:cNvPr id="7" name="Shape 671">
            <a:extLst>
              <a:ext uri="{FF2B5EF4-FFF2-40B4-BE49-F238E27FC236}">
                <a16:creationId xmlns:a16="http://schemas.microsoft.com/office/drawing/2014/main" id="{F91ED069-D9CA-4E85-8D5A-D148BC25C528}"/>
              </a:ext>
            </a:extLst>
          </p:cNvPr>
          <p:cNvSpPr txBox="1">
            <a:spLocks/>
          </p:cNvSpPr>
          <p:nvPr/>
        </p:nvSpPr>
        <p:spPr>
          <a:xfrm>
            <a:off x="1571535" y="288879"/>
            <a:ext cx="6137400" cy="52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400" dirty="0">
                <a:solidFill>
                  <a:srgbClr val="02BDC7"/>
                </a:solidFill>
                <a:latin typeface="Roboto Slab Light"/>
                <a:ea typeface="Roboto Slab Light"/>
                <a:sym typeface="Roboto Slab Light"/>
              </a:rPr>
              <a:t>Python</a:t>
            </a:r>
          </a:p>
        </p:txBody>
      </p:sp>
      <p:sp>
        <p:nvSpPr>
          <p:cNvPr id="6" name="Shape 672">
            <a:extLst>
              <a:ext uri="{FF2B5EF4-FFF2-40B4-BE49-F238E27FC236}">
                <a16:creationId xmlns:a16="http://schemas.microsoft.com/office/drawing/2014/main" id="{D7C5A997-C6D6-4FEB-B870-7E7284E4A6E9}"/>
              </a:ext>
            </a:extLst>
          </p:cNvPr>
          <p:cNvSpPr txBox="1">
            <a:spLocks/>
          </p:cNvSpPr>
          <p:nvPr/>
        </p:nvSpPr>
        <p:spPr>
          <a:xfrm>
            <a:off x="1326772" y="811663"/>
            <a:ext cx="7065562" cy="417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Affichage des valeurs:</a:t>
            </a:r>
          </a:p>
          <a:p>
            <a:pPr marL="400050" indent="-285750">
              <a:spcBef>
                <a:spcPts val="600"/>
              </a:spcBef>
              <a:buClr>
                <a:srgbClr val="A1BECC"/>
              </a:buClr>
              <a:buSzPts val="1800"/>
              <a:buFont typeface="Courier New" panose="02070309020205020404" pitchFamily="49" charset="0"/>
              <a:buChar char="o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&gt;&gt;&gt;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print</a:t>
            </a: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("Hello world!")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Hello world!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endParaRPr lang="fr-FR" sz="1600" dirty="0">
              <a:solidFill>
                <a:srgbClr val="617A8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rPr>
              <a:t>	</a:t>
            </a: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&gt;&gt;&gt; var = 3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	&gt;&gt;&gt; </a:t>
            </a:r>
            <a:r>
              <a:rPr lang="fr-FR" sz="1600" dirty="0" err="1">
                <a:solidFill>
                  <a:srgbClr val="617A86"/>
                </a:solidFill>
                <a:latin typeface="Varela Round"/>
                <a:cs typeface="Varela Round"/>
              </a:rPr>
              <a:t>print</a:t>
            </a: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(var) </a:t>
            </a:r>
          </a:p>
          <a:p>
            <a:pPr marL="114300">
              <a:spcBef>
                <a:spcPts val="600"/>
              </a:spcBef>
              <a:buClr>
                <a:srgbClr val="A1BECC"/>
              </a:buClr>
              <a:buSzPts val="1800"/>
            </a:pPr>
            <a:r>
              <a:rPr lang="fr-FR" sz="1600" dirty="0">
                <a:solidFill>
                  <a:srgbClr val="617A86"/>
                </a:solidFill>
                <a:latin typeface="Varela Round"/>
                <a:cs typeface="Varela Round"/>
              </a:rPr>
              <a:t>	3</a:t>
            </a:r>
            <a:endParaRPr lang="fr-FR" sz="1600" dirty="0">
              <a:solidFill>
                <a:srgbClr val="617A86"/>
              </a:solidFill>
              <a:latin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2798858141"/>
      </p:ext>
    </p:extLst>
  </p:cSld>
  <p:clrMapOvr>
    <a:masterClrMapping/>
  </p:clrMapOvr>
</p:sld>
</file>

<file path=ppt/theme/theme1.xml><?xml version="1.0" encoding="utf-8"?>
<a:theme xmlns:a="http://schemas.openxmlformats.org/drawingml/2006/main" name="Ken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c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Affichage à l'écran (16:9)</PresentationFormat>
  <Paragraphs>260</Paragraphs>
  <Slides>25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25</vt:i4>
      </vt:variant>
    </vt:vector>
  </HeadingPairs>
  <TitlesOfParts>
    <vt:vector size="34" baseType="lpstr">
      <vt:lpstr>Varela Round</vt:lpstr>
      <vt:lpstr>Courier New</vt:lpstr>
      <vt:lpstr>Arial</vt:lpstr>
      <vt:lpstr>Karla</vt:lpstr>
      <vt:lpstr>Nixie One</vt:lpstr>
      <vt:lpstr>Lato Light</vt:lpstr>
      <vt:lpstr>Roboto Slab Light</vt:lpstr>
      <vt:lpstr>Kent template</vt:lpstr>
      <vt:lpstr>Puck template</vt:lpstr>
      <vt:lpstr>Présentation PowerPoint</vt:lpstr>
      <vt:lpstr>Les bases</vt:lpstr>
      <vt:lpstr>Un petit rappel (j’espère) SQL</vt:lpstr>
      <vt:lpstr>Présentation PowerPoint</vt:lpstr>
      <vt:lpstr>DML (DATA MANIPULATION LANGAGE)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DDL (DATA DEFINITION LANGAGE)</vt:lpstr>
      <vt:lpstr>Python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Florent Pradel</dc:creator>
  <cp:lastModifiedBy>Florent Pradel</cp:lastModifiedBy>
  <cp:revision>148</cp:revision>
  <dcterms:modified xsi:type="dcterms:W3CDTF">2022-10-17T13:58:07Z</dcterms:modified>
</cp:coreProperties>
</file>